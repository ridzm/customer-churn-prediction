
<file path=[Content_Types].xml><?xml version="1.0" encoding="utf-8"?>
<Types xmlns="http://schemas.openxmlformats.org/package/2006/content-types">
  <Default Extension="xlsx" ContentType="application/vnd.openxmlformats-officedocument.spreadsheetml.sheet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notesMasterIdLst>
    <p:notesMasterId r:id="rId4"/>
  </p:notesMasterIdLst>
  <p:sldIdLst>
    <p:sldId id="256" r:id="rId3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</p:sld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6" Type="http://schemas.openxmlformats.org/officeDocument/2006/relationships/tableStyles" Target="tableStyles.xml"/><Relationship Id="rId15" Type="http://schemas.openxmlformats.org/officeDocument/2006/relationships/viewProps" Target="viewProps.xml"/><Relationship Id="rId14" Type="http://schemas.openxmlformats.org/officeDocument/2006/relationships/presProps" Target="presProps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Workbook1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Workbook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0" vertOverflow="ellipsis" vert="horz" wrap="square" anchor="ctr" anchorCtr="1"/>
          <a:lstStyle/>
          <a:p>
            <a:pPr>
              <a:defRPr lang="en-US" sz="1100" b="0" i="0" u="none" strike="noStrike" kern="1200" baseline="0">
                <a:solidFill>
                  <a:srgbClr val="0D0D0D"/>
                </a:solidFill>
                <a:latin typeface="Arial" panose="020B0604020202020204"/>
                <a:ea typeface="+mn-ea"/>
                <a:cs typeface="+mn-cs"/>
              </a:defRPr>
            </a:pPr>
            <a:r>
              <a:rPr sz="1100" b="0" i="0" u="none" strike="noStrike">
                <a:solidFill>
                  <a:srgbClr val="0D0D0D"/>
                </a:solidFill>
                <a:latin typeface="Arial" panose="020B0604020202020204"/>
              </a:rPr>
              <a:t>Accuracy Comparison (%)</a:t>
            </a:r>
            <a:endParaRPr sz="1100" b="0" i="0" u="none" strike="noStrike">
              <a:solidFill>
                <a:srgbClr val="0D0D0D"/>
              </a:solidFill>
              <a:latin typeface="Arial" panose="020B0604020202020204"/>
            </a:endParaRPr>
          </a:p>
        </c:rich>
      </c:tx>
      <c:layout/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Accuracy (%)</c:v>
                </c:pt>
              </c:strCache>
            </c:strRef>
          </c:tx>
          <c:spPr>
            <a:solidFill>
              <a:srgbClr val="767676"/>
            </a:solidFill>
            <a:effectLst/>
          </c:spPr>
          <c:invertIfNegative val="0"/>
          <c:dPt>
            <c:idx val="0"/>
            <c:invertIfNegative val="0"/>
            <c:bubble3D val="0"/>
            <c:spPr>
              <a:solidFill>
                <a:srgbClr val="767676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4A4A4A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2B2B2B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0D0D0D"/>
              </a:solidFill>
              <a:effectLst/>
            </c:spPr>
          </c:dPt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 rot="0" spcFirstLastPara="0" vertOverflow="ellipsis" vert="horz" wrap="square" lIns="38100" tIns="19050" rIns="38100" bIns="19050" anchor="ctr" anchorCtr="1"/>
              <a:lstStyle/>
              <a:p>
                <a:pPr>
                  <a:defRPr lang="en-US" sz="1000" b="0" i="0" u="none" strike="noStrike" kern="1200" baseline="0">
                    <a:solidFill>
                      <a:srgbClr val="FFFFFF"/>
                    </a:solidFill>
                    <a:latin typeface="Arial" panose="020B0604020202020204"/>
                    <a:ea typeface="+mn-ea"/>
                    <a:cs typeface="+mn-cs"/>
                  </a:defRPr>
                </a:pPr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0"/>
                <c15:leaderLines/>
              </c:ext>
            </c:extLst>
          </c:dLbls>
          <c:cat>
            <c:strRef>
              <c:f>Sheet1!$A$2:$A$5</c:f>
              <c:strCache>
                <c:ptCount val="4"/>
                <c:pt idx="0">
                  <c:v>Logistic Regression</c:v>
                </c:pt>
                <c:pt idx="1">
                  <c:v>Decision Tree</c:v>
                </c:pt>
                <c:pt idx="2">
                  <c:v>Random Forest</c:v>
                </c:pt>
                <c:pt idx="3">
                  <c:v>XGBoost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93</c:v>
                </c:pt>
                <c:pt idx="1">
                  <c:v>99</c:v>
                </c:pt>
                <c:pt idx="2">
                  <c:v>99.5</c:v>
                </c:pt>
                <c:pt idx="3">
                  <c:v>100</c:v>
                </c:pt>
              </c:numCache>
            </c:numRef>
          </c:val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overlap val="0"/>
        <c:axId val="2094734554"/>
        <c:axId val="2094734552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 cmpd="sng" algn="ctr">
            <a:solidFill>
              <a:srgbClr val="888888"/>
            </a:solidFill>
            <a:prstDash val="solid"/>
            <a:round/>
          </a:ln>
        </c:spPr>
        <c:txPr>
          <a:bodyPr rot="-60000000" spcFirstLastPara="0" vertOverflow="ellipsis" vert="horz" wrap="square" anchor="ctr" anchorCtr="1"/>
          <a:lstStyle/>
          <a:p>
            <a:pPr>
              <a:defRPr lang="en-US" sz="1200" b="0" i="0" u="none" strike="noStrike" kern="1200" baseline="0">
                <a:solidFill>
                  <a:srgbClr val="4A4A4A"/>
                </a:solidFill>
                <a:latin typeface="Arial" panose="020B0604020202020204"/>
                <a:ea typeface="+mn-ea"/>
                <a:cs typeface="+mn-cs"/>
              </a:defRPr>
            </a:pPr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6350" cap="flat" cmpd="sng" algn="ctr">
              <a:solidFill>
                <a:srgbClr val="E8E8E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 cmpd="sng" algn="ctr">
            <a:solidFill>
              <a:srgbClr val="888888"/>
            </a:solidFill>
            <a:prstDash val="solid"/>
            <a:round/>
          </a:ln>
        </c:spPr>
        <c:txPr>
          <a:bodyPr rot="-60000000" spcFirstLastPara="0" vertOverflow="ellipsis" vert="horz" wrap="square" anchor="ctr" anchorCtr="1"/>
          <a:lstStyle/>
          <a:p>
            <a:pPr>
              <a:defRPr lang="en-US" sz="1200" b="0" i="0" u="none" strike="noStrike" kern="1200" baseline="0">
                <a:solidFill>
                  <a:srgbClr val="4A4A4A"/>
                </a:solidFill>
                <a:latin typeface="Arial" panose="020B0604020202020204"/>
                <a:ea typeface="+mn-ea"/>
                <a:cs typeface="+mn-cs"/>
              </a:defRPr>
            </a:pPr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0"/>
    <c:extLst>
      <c:ext uri="{0b15fc19-7d7d-44ad-8c2d-2c3a37ce22c3}">
        <chartProps xmlns="https://web.wps.cn/et/2018/main" chartId="{f2e5ee6c-e4a5-43ca-85cd-3961163b416f}"/>
      </c:ext>
    </c:extLst>
  </c:chart>
  <c:spPr>
    <a:solidFill>
      <a:srgbClr val="F5F5F5"/>
    </a:solidFill>
    <a:ln>
      <a:noFill/>
    </a:ln>
    <a:effectLst/>
  </c:spPr>
  <c:txPr>
    <a:bodyPr/>
    <a:lstStyle/>
    <a:p>
      <a:pPr>
        <a:defRPr lang="en-US"/>
      </a:pPr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zh-CN"/>
  <c:roundedCorners val="1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0" vertOverflow="ellipsis" vert="horz" wrap="square" anchor="ctr" anchorCtr="1"/>
          <a:lstStyle/>
          <a:p>
            <a:pPr>
              <a:defRPr lang="en-US" sz="900" b="0" i="0" u="none" strike="noStrike" kern="1200" baseline="0">
                <a:solidFill>
                  <a:srgbClr val="4A4A4A"/>
                </a:solidFill>
                <a:latin typeface="Arial" panose="020B0604020202020204"/>
                <a:ea typeface="+mn-ea"/>
                <a:cs typeface="+mn-cs"/>
              </a:defRPr>
            </a:pPr>
            <a:r>
              <a:rPr sz="900" b="0" i="0" u="none" strike="noStrike">
                <a:solidFill>
                  <a:srgbClr val="4A4A4A"/>
                </a:solidFill>
                <a:latin typeface="Arial" panose="020B0604020202020204"/>
              </a:rPr>
              <a:t>ROC-AUC Scores</a:t>
            </a:r>
            <a:endParaRPr sz="900" b="0" i="0" u="none" strike="noStrike">
              <a:solidFill>
                <a:srgbClr val="4A4A4A"/>
              </a:solidFill>
              <a:latin typeface="Arial" panose="020B0604020202020204"/>
            </a:endParaRPr>
          </a:p>
        </c:rich>
      </c:tx>
      <c:layout/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ROC-AUC</c:v>
                </c:pt>
              </c:strCache>
            </c:strRef>
          </c:tx>
          <c:spPr>
            <a:solidFill>
              <a:srgbClr val="767676"/>
            </a:solidFill>
            <a:effectLst/>
          </c:spPr>
          <c:invertIfNegative val="0"/>
          <c:dPt>
            <c:idx val="0"/>
            <c:invertIfNegative val="0"/>
            <c:bubble3D val="0"/>
            <c:spPr>
              <a:solidFill>
                <a:srgbClr val="767676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4A4A4A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2B2B2B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0D0D0D"/>
              </a:solidFill>
              <a:effectLst/>
            </c:spPr>
          </c:dPt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 rot="0" spcFirstLastPara="0" vertOverflow="ellipsis" vert="horz" wrap="square" lIns="38100" tIns="19050" rIns="38100" bIns="19050" anchor="ctr" anchorCtr="1"/>
              <a:lstStyle/>
              <a:p>
                <a:pPr>
                  <a:defRPr lang="en-US" sz="800" b="0" i="0" u="none" strike="noStrike" kern="1200" baseline="0">
                    <a:solidFill>
                      <a:srgbClr val="FFFFFF"/>
                    </a:solidFill>
                    <a:latin typeface="Arial" panose="020B0604020202020204"/>
                    <a:ea typeface="+mn-ea"/>
                    <a:cs typeface="+mn-cs"/>
                  </a:defRPr>
                </a:pPr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0"/>
                <c15:leaderLines/>
              </c:ext>
            </c:extLst>
          </c:dLbls>
          <c:cat>
            <c:strRef>
              <c:f>Sheet1!$A$2:$A$5</c:f>
              <c:strCache>
                <c:ptCount val="4"/>
                <c:pt idx="0">
                  <c:v>Log. Reg.</c:v>
                </c:pt>
                <c:pt idx="1">
                  <c:v>Dec. Tree</c:v>
                </c:pt>
                <c:pt idx="2">
                  <c:v>Rnd. Forest</c:v>
                </c:pt>
                <c:pt idx="3">
                  <c:v>XGBoost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0.9791</c:v>
                </c:pt>
                <c:pt idx="1">
                  <c:v>0.9895</c:v>
                </c:pt>
                <c:pt idx="2">
                  <c:v>0.9999</c:v>
                </c:pt>
                <c:pt idx="3">
                  <c:v>1</c:v>
                </c:pt>
              </c:numCache>
            </c:numRef>
          </c:val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overlap val="0"/>
        <c:axId val="2094734554"/>
        <c:axId val="2094734552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 cmpd="sng" algn="ctr">
            <a:solidFill>
              <a:srgbClr val="888888"/>
            </a:solidFill>
            <a:prstDash val="solid"/>
            <a:round/>
          </a:ln>
        </c:spPr>
        <c:txPr>
          <a:bodyPr rot="-60000000" spcFirstLastPara="0" vertOverflow="ellipsis" vert="horz" wrap="square" anchor="ctr" anchorCtr="1"/>
          <a:lstStyle/>
          <a:p>
            <a:pPr>
              <a:defRPr lang="en-US" sz="1200" b="0" i="0" u="none" strike="noStrike" kern="1200" baseline="0">
                <a:solidFill>
                  <a:srgbClr val="767676"/>
                </a:solidFill>
                <a:latin typeface="Arial" panose="020B0604020202020204"/>
                <a:ea typeface="+mn-ea"/>
                <a:cs typeface="+mn-cs"/>
              </a:defRPr>
            </a:pPr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1"/>
          <c:min val="0.97"/>
        </c:scaling>
        <c:delete val="0"/>
        <c:axPos val="b"/>
        <c:numFmt formatCode="General" sourceLinked="0"/>
        <c:majorTickMark val="out"/>
        <c:minorTickMark val="none"/>
        <c:tickLblPos val="low"/>
        <c:spPr>
          <a:ln w="12700" cap="flat" cmpd="sng" algn="ctr">
            <a:solidFill>
              <a:srgbClr val="888888"/>
            </a:solidFill>
            <a:prstDash val="solid"/>
            <a:round/>
          </a:ln>
        </c:spPr>
        <c:txPr>
          <a:bodyPr rot="-60000000" spcFirstLastPara="0" vertOverflow="ellipsis" vert="horz" wrap="square" anchor="ctr" anchorCtr="1"/>
          <a:lstStyle/>
          <a:p>
            <a:pPr>
              <a:defRPr lang="en-US" sz="1200" b="0" i="0" u="none" strike="noStrike" kern="1200" baseline="0">
                <a:solidFill>
                  <a:srgbClr val="767676"/>
                </a:solidFill>
                <a:latin typeface="Arial" panose="020B0604020202020204"/>
                <a:ea typeface="+mn-ea"/>
                <a:cs typeface="+mn-cs"/>
              </a:defRPr>
            </a:pPr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0"/>
    <c:extLst>
      <c:ext uri="{0b15fc19-7d7d-44ad-8c2d-2c3a37ce22c3}">
        <chartProps xmlns="https://web.wps.cn/et/2018/main" chartId="{b567dc71-3297-4e04-8a95-f9c360afd7f0}"/>
      </c:ext>
    </c:extLst>
  </c:chart>
  <c:spPr>
    <a:solidFill>
      <a:srgbClr val="F5F5F5"/>
    </a:solidFill>
    <a:ln>
      <a:noFill/>
    </a:ln>
    <a:effectLst/>
  </c:spPr>
  <c:txPr>
    <a:bodyPr/>
    <a:lstStyle/>
    <a:p>
      <a:pPr>
        <a:defRPr lang="en-US"/>
      </a:pPr>
    </a:p>
  </c:tx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8.xml"/><Relationship Id="rId3" Type="http://schemas.openxmlformats.org/officeDocument/2006/relationships/slideLayout" Target="../slideLayouts/slideLayout1.xml"/><Relationship Id="rId2" Type="http://schemas.openxmlformats.org/officeDocument/2006/relationships/chart" Target="../charts/chart2.xml"/><Relationship Id="rId1" Type="http://schemas.openxmlformats.org/officeDocument/2006/relationships/chart" Target="../charts/char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0D0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217920" cy="51435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640080"/>
            <a:ext cx="548640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kern="0" spc="500" dirty="0">
                <a:solidFill>
                  <a:srgbClr val="767676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PROJECT REPORT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1051560"/>
            <a:ext cx="5486400" cy="219456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3600" b="1" dirty="0">
                <a:solidFill>
                  <a:srgbClr val="0D0D0D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Customer Churn</a:t>
            </a:r>
            <a:endParaRPr lang="en-US" sz="3600" dirty="0"/>
          </a:p>
          <a:p>
            <a:pPr marL="0" indent="0" algn="l">
              <a:buNone/>
            </a:pPr>
            <a:r>
              <a:rPr lang="en-US" sz="3600" b="1" dirty="0">
                <a:solidFill>
                  <a:srgbClr val="0D0D0D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Prediction Using</a:t>
            </a:r>
            <a:endParaRPr lang="en-US" sz="3600" dirty="0"/>
          </a:p>
          <a:p>
            <a:pPr marL="0" indent="0" algn="l">
              <a:buNone/>
            </a:pPr>
            <a:r>
              <a:rPr lang="en-US" sz="3600" b="1" dirty="0">
                <a:solidFill>
                  <a:srgbClr val="0D0D0D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Machine Learning</a:t>
            </a:r>
            <a:endParaRPr lang="en-US" sz="3600" dirty="0"/>
          </a:p>
        </p:txBody>
      </p:sp>
      <p:sp>
        <p:nvSpPr>
          <p:cNvPr id="5" name="Shape 3"/>
          <p:cNvSpPr/>
          <p:nvPr/>
        </p:nvSpPr>
        <p:spPr>
          <a:xfrm>
            <a:off x="457200" y="3337560"/>
            <a:ext cx="5303520" cy="18288"/>
          </a:xfrm>
          <a:prstGeom prst="rect">
            <a:avLst/>
          </a:prstGeom>
          <a:solidFill>
            <a:srgbClr val="0D0D0D"/>
          </a:solidFill>
          <a:ln w="12700">
            <a:solidFill>
              <a:srgbClr val="0D0D0D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3456432"/>
            <a:ext cx="548640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457200" y="3447415"/>
            <a:ext cx="548640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4A4A4A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Submitted By: Student — </a:t>
            </a:r>
            <a:r>
              <a:rPr lang="en-IN" altLang="en-US" sz="1000" dirty="0">
                <a:solidFill>
                  <a:srgbClr val="4A4A4A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Riddhi Mehta</a:t>
            </a:r>
            <a:endParaRPr lang="en-IN" altLang="en-US" sz="1000" dirty="0">
              <a:solidFill>
                <a:srgbClr val="4A4A4A"/>
              </a:solidFill>
              <a:latin typeface="Arial" panose="020B0604020202020204" pitchFamily="34" charset="0"/>
              <a:ea typeface="Arial" panose="020B0604020202020204" pitchFamily="34" charset="-122"/>
              <a:cs typeface="Arial" panose="020B0604020202020204" pitchFamily="34" charset="-120"/>
            </a:endParaRPr>
          </a:p>
        </p:txBody>
      </p:sp>
      <p:sp>
        <p:nvSpPr>
          <p:cNvPr id="8" name="Text 6"/>
          <p:cNvSpPr/>
          <p:nvPr/>
        </p:nvSpPr>
        <p:spPr>
          <a:xfrm>
            <a:off x="457200" y="4133088"/>
            <a:ext cx="548640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6492240" y="274320"/>
            <a:ext cx="2377440" cy="1005840"/>
          </a:xfrm>
          <a:prstGeom prst="rect">
            <a:avLst/>
          </a:prstGeom>
          <a:solidFill>
            <a:srgbClr val="1A1A1A"/>
          </a:solidFill>
          <a:ln w="12700">
            <a:solidFill>
              <a:srgbClr val="1A1A1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492240" y="274320"/>
            <a:ext cx="2377440" cy="10058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CHURN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PREDICTION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6492240" y="1463040"/>
            <a:ext cx="2377440" cy="1005840"/>
          </a:xfrm>
          <a:prstGeom prst="rect">
            <a:avLst/>
          </a:prstGeom>
          <a:solidFill>
            <a:srgbClr val="4A4A4A"/>
          </a:solidFill>
          <a:ln w="12700">
            <a:solidFill>
              <a:srgbClr val="1A1A1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492240" y="1463040"/>
            <a:ext cx="2377440" cy="10058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MACHINE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LEARNING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6492240" y="2651760"/>
            <a:ext cx="2377440" cy="1005840"/>
          </a:xfrm>
          <a:prstGeom prst="rect">
            <a:avLst/>
          </a:prstGeom>
          <a:solidFill>
            <a:srgbClr val="1A1A1A"/>
          </a:solidFill>
          <a:ln w="12700">
            <a:solidFill>
              <a:srgbClr val="1A1A1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492240" y="2651760"/>
            <a:ext cx="2377440" cy="10058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DATA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ANALYTICS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6492240" y="3840480"/>
            <a:ext cx="2377440" cy="1005840"/>
          </a:xfrm>
          <a:prstGeom prst="rect">
            <a:avLst/>
          </a:prstGeom>
          <a:solidFill>
            <a:srgbClr val="4A4A4A"/>
          </a:solidFill>
          <a:ln w="12700">
            <a:solidFill>
              <a:srgbClr val="1A1A1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492240" y="3840480"/>
            <a:ext cx="2377440" cy="10058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AI/ML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PROJECT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01168"/>
            <a:ext cx="8321040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50" kern="0" spc="300" dirty="0">
                <a:solidFill>
                  <a:srgbClr val="767676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INTRODUCTION</a:t>
            </a:r>
            <a:endParaRPr lang="en-US" sz="750" dirty="0"/>
          </a:p>
        </p:txBody>
      </p:sp>
      <p:sp>
        <p:nvSpPr>
          <p:cNvPr id="3" name="Text 1"/>
          <p:cNvSpPr/>
          <p:nvPr/>
        </p:nvSpPr>
        <p:spPr>
          <a:xfrm>
            <a:off x="411480" y="438912"/>
            <a:ext cx="8321040" cy="6400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0D0D0D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What is Customer Churn?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411480" y="1115568"/>
            <a:ext cx="8321040" cy="18288"/>
          </a:xfrm>
          <a:prstGeom prst="rect">
            <a:avLst/>
          </a:prstGeom>
          <a:solidFill>
            <a:srgbClr val="0D0D0D"/>
          </a:solidFill>
          <a:ln w="12700">
            <a:solidFill>
              <a:srgbClr val="0D0D0D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11480" y="4828032"/>
            <a:ext cx="8321040" cy="18288"/>
          </a:xfrm>
          <a:prstGeom prst="rect">
            <a:avLst/>
          </a:prstGeom>
          <a:solidFill>
            <a:srgbClr val="E8E8E8"/>
          </a:solidFill>
          <a:ln w="12700">
            <a:solidFill>
              <a:srgbClr val="E8E8E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11480" y="4864608"/>
            <a:ext cx="6858000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endParaRPr lang="en-US" sz="700" dirty="0"/>
          </a:p>
        </p:txBody>
      </p:sp>
      <p:sp>
        <p:nvSpPr>
          <p:cNvPr id="7" name="Text 5"/>
          <p:cNvSpPr/>
          <p:nvPr/>
        </p:nvSpPr>
        <p:spPr>
          <a:xfrm>
            <a:off x="8321040" y="4864608"/>
            <a:ext cx="411480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00" dirty="0">
                <a:solidFill>
                  <a:srgbClr val="767676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2</a:t>
            </a:r>
            <a:endParaRPr lang="en-US" sz="700" dirty="0"/>
          </a:p>
        </p:txBody>
      </p:sp>
      <p:sp>
        <p:nvSpPr>
          <p:cNvPr id="8" name="Shape 6"/>
          <p:cNvSpPr/>
          <p:nvPr/>
        </p:nvSpPr>
        <p:spPr>
          <a:xfrm>
            <a:off x="411480" y="1261872"/>
            <a:ext cx="1920240" cy="3383280"/>
          </a:xfrm>
          <a:prstGeom prst="rect">
            <a:avLst/>
          </a:prstGeom>
          <a:solidFill>
            <a:srgbClr val="0D0D0D"/>
          </a:solidFill>
          <a:ln w="12700">
            <a:solidFill>
              <a:srgbClr val="E8E8E8"/>
            </a:solidFill>
            <a:prstDash val="solid"/>
          </a:ln>
          <a:effectLst>
            <a:outerShdw blurRad="101600" dist="38100" dir="2700000" algn="bl" rotWithShape="0">
              <a:srgbClr val="000000">
                <a:alpha val="14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411480" y="1444752"/>
            <a:ext cx="192024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✕</a:t>
            </a:r>
            <a:endParaRPr lang="en-US" sz="2200" dirty="0"/>
          </a:p>
        </p:txBody>
      </p:sp>
      <p:sp>
        <p:nvSpPr>
          <p:cNvPr id="10" name="Shape 8"/>
          <p:cNvSpPr/>
          <p:nvPr/>
        </p:nvSpPr>
        <p:spPr>
          <a:xfrm>
            <a:off x="640080" y="2011680"/>
            <a:ext cx="1463040" cy="18288"/>
          </a:xfrm>
          <a:prstGeom prst="rect">
            <a:avLst/>
          </a:prstGeom>
          <a:solidFill>
            <a:srgbClr val="4A4A4A"/>
          </a:solidFill>
          <a:ln w="12700">
            <a:solidFill>
              <a:srgbClr val="4A4A4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2157984"/>
            <a:ext cx="173736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kern="0" spc="200" dirty="0">
                <a:solidFill>
                  <a:srgbClr val="E8E8E8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DEFINITION</a:t>
            </a:r>
            <a:endParaRPr lang="en-US" sz="850" dirty="0"/>
          </a:p>
        </p:txBody>
      </p:sp>
      <p:sp>
        <p:nvSpPr>
          <p:cNvPr id="12" name="Text 10"/>
          <p:cNvSpPr/>
          <p:nvPr/>
        </p:nvSpPr>
        <p:spPr>
          <a:xfrm>
            <a:off x="521208" y="2468880"/>
            <a:ext cx="1700784" cy="201168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50" dirty="0">
                <a:solidFill>
                  <a:srgbClr val="F5F5F5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Customers who discontinue their relationship with a company — they leave and stop purchasing.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2514600" y="1261872"/>
            <a:ext cx="1920240" cy="3383280"/>
          </a:xfrm>
          <a:prstGeom prst="rect">
            <a:avLst/>
          </a:prstGeom>
          <a:solidFill>
            <a:srgbClr val="F5F5F5"/>
          </a:solidFill>
          <a:ln w="12700">
            <a:solidFill>
              <a:srgbClr val="E8E8E8"/>
            </a:solidFill>
            <a:prstDash val="solid"/>
          </a:ln>
          <a:effectLst>
            <a:outerShdw blurRad="101600" dist="38100" dir="2700000" algn="bl" rotWithShape="0">
              <a:srgbClr val="000000">
                <a:alpha val="14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2514600" y="1444752"/>
            <a:ext cx="192024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0D0D0D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5–7×</a:t>
            </a:r>
            <a:endParaRPr lang="en-US" sz="2200" dirty="0"/>
          </a:p>
        </p:txBody>
      </p:sp>
      <p:sp>
        <p:nvSpPr>
          <p:cNvPr id="15" name="Shape 13"/>
          <p:cNvSpPr/>
          <p:nvPr/>
        </p:nvSpPr>
        <p:spPr>
          <a:xfrm>
            <a:off x="2743200" y="2011680"/>
            <a:ext cx="1463040" cy="18288"/>
          </a:xfrm>
          <a:prstGeom prst="rect">
            <a:avLst/>
          </a:prstGeom>
          <a:solidFill>
            <a:srgbClr val="E8E8E8"/>
          </a:solidFill>
          <a:ln w="12700">
            <a:solidFill>
              <a:srgbClr val="E8E8E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2606040" y="2157984"/>
            <a:ext cx="173736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kern="0" spc="200" dirty="0">
                <a:solidFill>
                  <a:srgbClr val="4A4A4A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COST OF ACQUISITION</a:t>
            </a:r>
            <a:endParaRPr lang="en-US" sz="850" dirty="0"/>
          </a:p>
        </p:txBody>
      </p:sp>
      <p:sp>
        <p:nvSpPr>
          <p:cNvPr id="17" name="Text 15"/>
          <p:cNvSpPr/>
          <p:nvPr/>
        </p:nvSpPr>
        <p:spPr>
          <a:xfrm>
            <a:off x="2624328" y="2468880"/>
            <a:ext cx="1700784" cy="201168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50" dirty="0">
                <a:solidFill>
                  <a:srgbClr val="4A4A4A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Acquiring a new customer costs 5 to 7 times more than retaining an existing one.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4617720" y="1261872"/>
            <a:ext cx="1920240" cy="3383280"/>
          </a:xfrm>
          <a:prstGeom prst="rect">
            <a:avLst/>
          </a:prstGeom>
          <a:solidFill>
            <a:srgbClr val="0D0D0D"/>
          </a:solidFill>
          <a:ln w="12700">
            <a:solidFill>
              <a:srgbClr val="E8E8E8"/>
            </a:solidFill>
            <a:prstDash val="solid"/>
          </a:ln>
          <a:effectLst>
            <a:outerShdw blurRad="101600" dist="38100" dir="2700000" algn="bl" rotWithShape="0">
              <a:srgbClr val="000000">
                <a:alpha val="14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4617720" y="1444752"/>
            <a:ext cx="192024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★</a:t>
            </a:r>
            <a:endParaRPr lang="en-US" sz="2200" dirty="0"/>
          </a:p>
        </p:txBody>
      </p:sp>
      <p:sp>
        <p:nvSpPr>
          <p:cNvPr id="20" name="Shape 18"/>
          <p:cNvSpPr/>
          <p:nvPr/>
        </p:nvSpPr>
        <p:spPr>
          <a:xfrm>
            <a:off x="4846320" y="2011680"/>
            <a:ext cx="1463040" cy="18288"/>
          </a:xfrm>
          <a:prstGeom prst="rect">
            <a:avLst/>
          </a:prstGeom>
          <a:solidFill>
            <a:srgbClr val="4A4A4A"/>
          </a:solidFill>
          <a:ln w="12700">
            <a:solidFill>
              <a:srgbClr val="4A4A4A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709160" y="2157984"/>
            <a:ext cx="173736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kern="0" spc="200" dirty="0">
                <a:solidFill>
                  <a:srgbClr val="E8E8E8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INDUSTRIES AFFECTED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4727448" y="2468880"/>
            <a:ext cx="1700784" cy="201168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50" dirty="0">
                <a:solidFill>
                  <a:srgbClr val="F5F5F5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Telecom · Banking · Retail · Insurance · Subscription-based services.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6720840" y="1261872"/>
            <a:ext cx="1920240" cy="3383280"/>
          </a:xfrm>
          <a:prstGeom prst="rect">
            <a:avLst/>
          </a:prstGeom>
          <a:solidFill>
            <a:srgbClr val="F5F5F5"/>
          </a:solidFill>
          <a:ln w="12700">
            <a:solidFill>
              <a:srgbClr val="E8E8E8"/>
            </a:solidFill>
            <a:prstDash val="solid"/>
          </a:ln>
          <a:effectLst>
            <a:outerShdw blurRad="101600" dist="38100" dir="2700000" algn="bl" rotWithShape="0">
              <a:srgbClr val="000000">
                <a:alpha val="14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6720840" y="1444752"/>
            <a:ext cx="192024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0D0D0D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↗</a:t>
            </a:r>
            <a:endParaRPr lang="en-US" sz="2200" dirty="0"/>
          </a:p>
        </p:txBody>
      </p:sp>
      <p:sp>
        <p:nvSpPr>
          <p:cNvPr id="25" name="Shape 23"/>
          <p:cNvSpPr/>
          <p:nvPr/>
        </p:nvSpPr>
        <p:spPr>
          <a:xfrm>
            <a:off x="6949440" y="2011680"/>
            <a:ext cx="1463040" cy="18288"/>
          </a:xfrm>
          <a:prstGeom prst="rect">
            <a:avLst/>
          </a:prstGeom>
          <a:solidFill>
            <a:srgbClr val="E8E8E8"/>
          </a:solidFill>
          <a:ln w="12700">
            <a:solidFill>
              <a:srgbClr val="E8E8E8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812280" y="2157984"/>
            <a:ext cx="173736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kern="0" spc="200" dirty="0">
                <a:solidFill>
                  <a:srgbClr val="4A4A4A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ML SOLUTION</a:t>
            </a:r>
            <a:endParaRPr lang="en-US" sz="850" dirty="0"/>
          </a:p>
        </p:txBody>
      </p:sp>
      <p:sp>
        <p:nvSpPr>
          <p:cNvPr id="27" name="Text 25"/>
          <p:cNvSpPr/>
          <p:nvPr/>
        </p:nvSpPr>
        <p:spPr>
          <a:xfrm>
            <a:off x="6830568" y="2468880"/>
            <a:ext cx="1700784" cy="201168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50" dirty="0">
                <a:solidFill>
                  <a:srgbClr val="4A4A4A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Use historical data and ML algorithms to predict churn before it happens — and intervene early.</a:t>
            </a:r>
            <a:endParaRPr lang="en-US" sz="10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01168"/>
            <a:ext cx="8321040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50" kern="0" spc="300" dirty="0">
                <a:solidFill>
                  <a:srgbClr val="767676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PROBLEM STATEMENT</a:t>
            </a:r>
            <a:endParaRPr lang="en-US" sz="750" dirty="0"/>
          </a:p>
        </p:txBody>
      </p:sp>
      <p:sp>
        <p:nvSpPr>
          <p:cNvPr id="3" name="Text 1"/>
          <p:cNvSpPr/>
          <p:nvPr/>
        </p:nvSpPr>
        <p:spPr>
          <a:xfrm>
            <a:off x="411480" y="438912"/>
            <a:ext cx="8321040" cy="6400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0D0D0D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Problem Statement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411480" y="1115568"/>
            <a:ext cx="8321040" cy="18288"/>
          </a:xfrm>
          <a:prstGeom prst="rect">
            <a:avLst/>
          </a:prstGeom>
          <a:solidFill>
            <a:srgbClr val="0D0D0D"/>
          </a:solidFill>
          <a:ln w="12700">
            <a:solidFill>
              <a:srgbClr val="0D0D0D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11480" y="4828032"/>
            <a:ext cx="8321040" cy="18288"/>
          </a:xfrm>
          <a:prstGeom prst="rect">
            <a:avLst/>
          </a:prstGeom>
          <a:solidFill>
            <a:srgbClr val="E8E8E8"/>
          </a:solidFill>
          <a:ln w="12700">
            <a:solidFill>
              <a:srgbClr val="E8E8E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11480" y="4864608"/>
            <a:ext cx="6858000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endParaRPr lang="en-US" sz="700" dirty="0"/>
          </a:p>
        </p:txBody>
      </p:sp>
      <p:sp>
        <p:nvSpPr>
          <p:cNvPr id="7" name="Text 5"/>
          <p:cNvSpPr/>
          <p:nvPr/>
        </p:nvSpPr>
        <p:spPr>
          <a:xfrm>
            <a:off x="8321040" y="4864608"/>
            <a:ext cx="411480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00" dirty="0">
                <a:solidFill>
                  <a:srgbClr val="767676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3</a:t>
            </a:r>
            <a:endParaRPr lang="en-US" sz="700" dirty="0"/>
          </a:p>
        </p:txBody>
      </p:sp>
      <p:sp>
        <p:nvSpPr>
          <p:cNvPr id="8" name="Shape 6"/>
          <p:cNvSpPr/>
          <p:nvPr/>
        </p:nvSpPr>
        <p:spPr>
          <a:xfrm>
            <a:off x="411480" y="1261872"/>
            <a:ext cx="3931920" cy="3383280"/>
          </a:xfrm>
          <a:prstGeom prst="rect">
            <a:avLst/>
          </a:prstGeom>
          <a:solidFill>
            <a:srgbClr val="0D0D0D"/>
          </a:solidFill>
          <a:ln w="12700">
            <a:solidFill>
              <a:srgbClr val="0D0D0D"/>
            </a:solidFill>
            <a:prstDash val="solid"/>
          </a:ln>
          <a:effectLst>
            <a:outerShdw blurRad="101600" dist="38100" dir="2700000" algn="bl" rotWithShape="0">
              <a:srgbClr val="000000">
                <a:alpha val="14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594360" y="1417320"/>
            <a:ext cx="356616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b="1" kern="0" spc="300" dirty="0">
                <a:solidFill>
                  <a:srgbClr val="767676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THE CHALLENGE</a:t>
            </a:r>
            <a:endParaRPr lang="en-US" sz="850" dirty="0"/>
          </a:p>
        </p:txBody>
      </p:sp>
      <p:sp>
        <p:nvSpPr>
          <p:cNvPr id="10" name="Shape 8"/>
          <p:cNvSpPr/>
          <p:nvPr/>
        </p:nvSpPr>
        <p:spPr>
          <a:xfrm>
            <a:off x="594360" y="1810512"/>
            <a:ext cx="256032" cy="256032"/>
          </a:xfrm>
          <a:prstGeom prst="rect">
            <a:avLst/>
          </a:prstGeom>
          <a:solidFill>
            <a:srgbClr val="4A4A4A"/>
          </a:solidFill>
          <a:ln w="12700">
            <a:solidFill>
              <a:srgbClr val="4A4A4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94360" y="1810512"/>
            <a:ext cx="256032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1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932688" y="1810512"/>
            <a:ext cx="320040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F5F5F5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Reactive retention methods arrive too late.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594360" y="2468880"/>
            <a:ext cx="256032" cy="256032"/>
          </a:xfrm>
          <a:prstGeom prst="rect">
            <a:avLst/>
          </a:prstGeom>
          <a:solidFill>
            <a:srgbClr val="4A4A4A"/>
          </a:solidFill>
          <a:ln w="12700">
            <a:solidFill>
              <a:srgbClr val="4A4A4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94360" y="2468880"/>
            <a:ext cx="256032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2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932688" y="2468880"/>
            <a:ext cx="320040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F5F5F5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Broad campaigns waste budget on low-risk customers.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594360" y="3127248"/>
            <a:ext cx="256032" cy="256032"/>
          </a:xfrm>
          <a:prstGeom prst="rect">
            <a:avLst/>
          </a:prstGeom>
          <a:solidFill>
            <a:srgbClr val="4A4A4A"/>
          </a:solidFill>
          <a:ln w="12700">
            <a:solidFill>
              <a:srgbClr val="4A4A4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94360" y="3127248"/>
            <a:ext cx="256032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3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932688" y="3127248"/>
            <a:ext cx="320040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F5F5F5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At-risk customers leave before teams can act.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594360" y="3785616"/>
            <a:ext cx="256032" cy="256032"/>
          </a:xfrm>
          <a:prstGeom prst="rect">
            <a:avLst/>
          </a:prstGeom>
          <a:solidFill>
            <a:srgbClr val="4A4A4A"/>
          </a:solidFill>
          <a:ln w="12700">
            <a:solidFill>
              <a:srgbClr val="4A4A4A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94360" y="3785616"/>
            <a:ext cx="256032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4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932688" y="3785616"/>
            <a:ext cx="320040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F5F5F5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Revenue loss grows silently without early signals.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4572000" y="1261872"/>
            <a:ext cx="4160520" cy="3383280"/>
          </a:xfrm>
          <a:prstGeom prst="rect">
            <a:avLst/>
          </a:prstGeom>
          <a:solidFill>
            <a:srgbClr val="F5F5F5"/>
          </a:solidFill>
          <a:ln w="12700">
            <a:solidFill>
              <a:srgbClr val="E8E8E8"/>
            </a:solidFill>
            <a:prstDash val="solid"/>
          </a:ln>
          <a:effectLst>
            <a:outerShdw blurRad="101600" dist="38100" dir="2700000" algn="bl" rotWithShape="0">
              <a:srgbClr val="000000">
                <a:alpha val="14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4754880" y="1417320"/>
            <a:ext cx="374904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b="1" kern="0" spc="300" dirty="0">
                <a:solidFill>
                  <a:srgbClr val="767676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THE SOLUTION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4754880" y="1783080"/>
            <a:ext cx="374904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i="1" dirty="0">
                <a:solidFill>
                  <a:srgbClr val="4A4A4A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A supervised binary classification system that: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4754880" y="2176272"/>
            <a:ext cx="379476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0D0D0D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→  </a:t>
            </a:r>
            <a:r>
              <a:rPr lang="en-US" sz="1100" dirty="0">
                <a:solidFill>
                  <a:srgbClr val="4A4A4A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Takes customer profile &amp; behavioural data as input.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4754880" y="2770632"/>
            <a:ext cx="379476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0D0D0D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→  </a:t>
            </a:r>
            <a:r>
              <a:rPr lang="en-US" sz="1100" dirty="0">
                <a:solidFill>
                  <a:srgbClr val="4A4A4A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Outputs a Churn prediction: Yes or No.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4754880" y="3364992"/>
            <a:ext cx="379476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0D0D0D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→  </a:t>
            </a:r>
            <a:r>
              <a:rPr lang="en-US" sz="1100" dirty="0">
                <a:solidFill>
                  <a:srgbClr val="4A4A4A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Provides a churn probability score (0–1).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4754880" y="3959352"/>
            <a:ext cx="379476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0D0D0D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→  </a:t>
            </a:r>
            <a:r>
              <a:rPr lang="en-US" sz="1100" dirty="0">
                <a:solidFill>
                  <a:srgbClr val="4A4A4A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Enables data-driven, proactive retention action.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01168"/>
            <a:ext cx="8321040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50" kern="0" spc="300" dirty="0">
                <a:solidFill>
                  <a:srgbClr val="767676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DATASET</a:t>
            </a:r>
            <a:endParaRPr lang="en-US" sz="750" dirty="0"/>
          </a:p>
        </p:txBody>
      </p:sp>
      <p:sp>
        <p:nvSpPr>
          <p:cNvPr id="3" name="Text 1"/>
          <p:cNvSpPr/>
          <p:nvPr/>
        </p:nvSpPr>
        <p:spPr>
          <a:xfrm>
            <a:off x="411480" y="438912"/>
            <a:ext cx="8321040" cy="6400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0D0D0D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Dataset Overview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411480" y="1115568"/>
            <a:ext cx="8321040" cy="18288"/>
          </a:xfrm>
          <a:prstGeom prst="rect">
            <a:avLst/>
          </a:prstGeom>
          <a:solidFill>
            <a:srgbClr val="0D0D0D"/>
          </a:solidFill>
          <a:ln w="12700">
            <a:solidFill>
              <a:srgbClr val="0D0D0D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11480" y="4828032"/>
            <a:ext cx="8321040" cy="18288"/>
          </a:xfrm>
          <a:prstGeom prst="rect">
            <a:avLst/>
          </a:prstGeom>
          <a:solidFill>
            <a:srgbClr val="E8E8E8"/>
          </a:solidFill>
          <a:ln w="12700">
            <a:solidFill>
              <a:srgbClr val="E8E8E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11480" y="4864608"/>
            <a:ext cx="6858000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endParaRPr lang="en-US" sz="700" dirty="0"/>
          </a:p>
        </p:txBody>
      </p:sp>
      <p:sp>
        <p:nvSpPr>
          <p:cNvPr id="7" name="Text 5"/>
          <p:cNvSpPr/>
          <p:nvPr/>
        </p:nvSpPr>
        <p:spPr>
          <a:xfrm>
            <a:off x="8321040" y="4864608"/>
            <a:ext cx="411480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00" dirty="0">
                <a:solidFill>
                  <a:srgbClr val="767676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4</a:t>
            </a:r>
            <a:endParaRPr lang="en-US" sz="700" dirty="0"/>
          </a:p>
        </p:txBody>
      </p:sp>
      <p:sp>
        <p:nvSpPr>
          <p:cNvPr id="8" name="Shape 6"/>
          <p:cNvSpPr/>
          <p:nvPr/>
        </p:nvSpPr>
        <p:spPr>
          <a:xfrm>
            <a:off x="411480" y="1261872"/>
            <a:ext cx="2606040" cy="1051560"/>
          </a:xfrm>
          <a:prstGeom prst="rect">
            <a:avLst/>
          </a:prstGeom>
          <a:solidFill>
            <a:srgbClr val="0D0D0D"/>
          </a:solidFill>
          <a:ln w="12700">
            <a:solidFill>
              <a:srgbClr val="0D0D0D"/>
            </a:solidFill>
            <a:prstDash val="solid"/>
          </a:ln>
          <a:effectLst>
            <a:outerShdw blurRad="101600" dist="38100" dir="2700000" algn="bl" rotWithShape="0">
              <a:srgbClr val="000000">
                <a:alpha val="14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411480" y="1325880"/>
            <a:ext cx="2606040" cy="5943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1,000</a:t>
            </a:r>
            <a:endParaRPr lang="en-US" sz="3400" dirty="0"/>
          </a:p>
        </p:txBody>
      </p:sp>
      <p:sp>
        <p:nvSpPr>
          <p:cNvPr id="10" name="Text 8"/>
          <p:cNvSpPr/>
          <p:nvPr/>
        </p:nvSpPr>
        <p:spPr>
          <a:xfrm>
            <a:off x="411480" y="1901952"/>
            <a:ext cx="260604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kern="0" spc="200" dirty="0">
                <a:solidFill>
                  <a:srgbClr val="E8E8E8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CUSTOMER RECORDS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3227832" y="1261872"/>
            <a:ext cx="2606040" cy="1051560"/>
          </a:xfrm>
          <a:prstGeom prst="rect">
            <a:avLst/>
          </a:prstGeom>
          <a:solidFill>
            <a:srgbClr val="1A1A1A"/>
          </a:solidFill>
          <a:ln w="12700">
            <a:solidFill>
              <a:srgbClr val="0D0D0D"/>
            </a:solidFill>
            <a:prstDash val="solid"/>
          </a:ln>
          <a:effectLst>
            <a:outerShdw blurRad="101600" dist="38100" dir="2700000" algn="bl" rotWithShape="0">
              <a:srgbClr val="000000">
                <a:alpha val="14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3227832" y="1325880"/>
            <a:ext cx="2606040" cy="5943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11</a:t>
            </a:r>
            <a:endParaRPr lang="en-US" sz="3400" dirty="0"/>
          </a:p>
        </p:txBody>
      </p:sp>
      <p:sp>
        <p:nvSpPr>
          <p:cNvPr id="13" name="Text 11"/>
          <p:cNvSpPr/>
          <p:nvPr/>
        </p:nvSpPr>
        <p:spPr>
          <a:xfrm>
            <a:off x="3227832" y="1901952"/>
            <a:ext cx="260604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kern="0" spc="200" dirty="0">
                <a:solidFill>
                  <a:srgbClr val="E8E8E8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FEATURES</a:t>
            </a:r>
            <a:endParaRPr lang="en-US" sz="850" dirty="0"/>
          </a:p>
        </p:txBody>
      </p:sp>
      <p:sp>
        <p:nvSpPr>
          <p:cNvPr id="14" name="Shape 12"/>
          <p:cNvSpPr/>
          <p:nvPr/>
        </p:nvSpPr>
        <p:spPr>
          <a:xfrm>
            <a:off x="6044184" y="1261872"/>
            <a:ext cx="2606040" cy="1051560"/>
          </a:xfrm>
          <a:prstGeom prst="rect">
            <a:avLst/>
          </a:prstGeom>
          <a:solidFill>
            <a:srgbClr val="4A4A4A"/>
          </a:solidFill>
          <a:ln w="12700">
            <a:solidFill>
              <a:srgbClr val="0D0D0D"/>
            </a:solidFill>
            <a:prstDash val="solid"/>
          </a:ln>
          <a:effectLst>
            <a:outerShdw blurRad="101600" dist="38100" dir="2700000" algn="bl" rotWithShape="0">
              <a:srgbClr val="000000">
                <a:alpha val="14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6044184" y="1325880"/>
            <a:ext cx="2606040" cy="5943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39%</a:t>
            </a:r>
            <a:endParaRPr lang="en-US" sz="3400" dirty="0"/>
          </a:p>
        </p:txBody>
      </p:sp>
      <p:sp>
        <p:nvSpPr>
          <p:cNvPr id="16" name="Text 14"/>
          <p:cNvSpPr/>
          <p:nvPr/>
        </p:nvSpPr>
        <p:spPr>
          <a:xfrm>
            <a:off x="6044184" y="1901952"/>
            <a:ext cx="260604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kern="0" spc="200" dirty="0">
                <a:solidFill>
                  <a:srgbClr val="E8E8E8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CHURN RATE</a:t>
            </a:r>
            <a:endParaRPr lang="en-US" sz="850" dirty="0"/>
          </a:p>
        </p:txBody>
      </p:sp>
      <p:sp>
        <p:nvSpPr>
          <p:cNvPr id="17" name="Shape 15"/>
          <p:cNvSpPr/>
          <p:nvPr/>
        </p:nvSpPr>
        <p:spPr>
          <a:xfrm>
            <a:off x="411480" y="2487168"/>
            <a:ext cx="1828800" cy="320040"/>
          </a:xfrm>
          <a:prstGeom prst="rect">
            <a:avLst/>
          </a:prstGeom>
          <a:solidFill>
            <a:srgbClr val="0D0D0D"/>
          </a:solidFill>
          <a:ln w="12700">
            <a:solidFill>
              <a:srgbClr val="0D0D0D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02920" y="2487168"/>
            <a:ext cx="173736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b="1" kern="0" spc="150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FEATURE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2240280" y="2487168"/>
            <a:ext cx="1463040" cy="320040"/>
          </a:xfrm>
          <a:prstGeom prst="rect">
            <a:avLst/>
          </a:prstGeom>
          <a:solidFill>
            <a:srgbClr val="0D0D0D"/>
          </a:solidFill>
          <a:ln w="12700">
            <a:solidFill>
              <a:srgbClr val="0D0D0D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2331720" y="2487168"/>
            <a:ext cx="137160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b="1" kern="0" spc="150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TYPE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3703320" y="2487168"/>
            <a:ext cx="5029200" cy="320040"/>
          </a:xfrm>
          <a:prstGeom prst="rect">
            <a:avLst/>
          </a:prstGeom>
          <a:solidFill>
            <a:srgbClr val="0D0D0D"/>
          </a:solidFill>
          <a:ln w="12700">
            <a:solidFill>
              <a:srgbClr val="0D0D0D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794760" y="2487168"/>
            <a:ext cx="493776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b="1" kern="0" spc="150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DESCRIPTION</a:t>
            </a:r>
            <a:endParaRPr lang="en-US" sz="850" dirty="0"/>
          </a:p>
        </p:txBody>
      </p:sp>
      <p:sp>
        <p:nvSpPr>
          <p:cNvPr id="23" name="Shape 21"/>
          <p:cNvSpPr/>
          <p:nvPr/>
        </p:nvSpPr>
        <p:spPr>
          <a:xfrm>
            <a:off x="411480" y="2807208"/>
            <a:ext cx="1828800" cy="320040"/>
          </a:xfrm>
          <a:prstGeom prst="rect">
            <a:avLst/>
          </a:prstGeom>
          <a:solidFill>
            <a:srgbClr val="FFFFFF"/>
          </a:solidFill>
          <a:ln w="6350">
            <a:solidFill>
              <a:srgbClr val="E8E8E8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02920" y="2807208"/>
            <a:ext cx="173736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0D0D0D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Tenure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2240280" y="2807208"/>
            <a:ext cx="1463040" cy="320040"/>
          </a:xfrm>
          <a:prstGeom prst="rect">
            <a:avLst/>
          </a:prstGeom>
          <a:solidFill>
            <a:srgbClr val="FFFFFF"/>
          </a:solidFill>
          <a:ln w="6350">
            <a:solidFill>
              <a:srgbClr val="E8E8E8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2331720" y="2807208"/>
            <a:ext cx="137160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4A4A4A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Integer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3703320" y="2807208"/>
            <a:ext cx="5029200" cy="320040"/>
          </a:xfrm>
          <a:prstGeom prst="rect">
            <a:avLst/>
          </a:prstGeom>
          <a:solidFill>
            <a:srgbClr val="FFFFFF"/>
          </a:solidFill>
          <a:ln w="6350">
            <a:solidFill>
              <a:srgbClr val="E8E8E8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3794760" y="2807208"/>
            <a:ext cx="493776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4A4A4A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Months the customer has been with the company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411480" y="3127248"/>
            <a:ext cx="1828800" cy="320040"/>
          </a:xfrm>
          <a:prstGeom prst="rect">
            <a:avLst/>
          </a:prstGeom>
          <a:solidFill>
            <a:srgbClr val="F5F5F5"/>
          </a:solidFill>
          <a:ln w="6350">
            <a:solidFill>
              <a:srgbClr val="E8E8E8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502920" y="3127248"/>
            <a:ext cx="173736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0D0D0D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MonthlyCharges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2240280" y="3127248"/>
            <a:ext cx="1463040" cy="320040"/>
          </a:xfrm>
          <a:prstGeom prst="rect">
            <a:avLst/>
          </a:prstGeom>
          <a:solidFill>
            <a:srgbClr val="F5F5F5"/>
          </a:solidFill>
          <a:ln w="6350">
            <a:solidFill>
              <a:srgbClr val="E8E8E8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2331720" y="3127248"/>
            <a:ext cx="137160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4A4A4A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Float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3703320" y="3127248"/>
            <a:ext cx="5029200" cy="320040"/>
          </a:xfrm>
          <a:prstGeom prst="rect">
            <a:avLst/>
          </a:prstGeom>
          <a:solidFill>
            <a:srgbClr val="F5F5F5"/>
          </a:solidFill>
          <a:ln w="6350">
            <a:solidFill>
              <a:srgbClr val="E8E8E8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3794760" y="3127248"/>
            <a:ext cx="493776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4A4A4A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Monthly billing amount in USD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411480" y="3447288"/>
            <a:ext cx="1828800" cy="320040"/>
          </a:xfrm>
          <a:prstGeom prst="rect">
            <a:avLst/>
          </a:prstGeom>
          <a:solidFill>
            <a:srgbClr val="FFFFFF"/>
          </a:solidFill>
          <a:ln w="6350">
            <a:solidFill>
              <a:srgbClr val="E8E8E8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502920" y="3447288"/>
            <a:ext cx="173736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0D0D0D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ContractType</a:t>
            </a:r>
            <a:endParaRPr lang="en-US" sz="1000" dirty="0"/>
          </a:p>
        </p:txBody>
      </p:sp>
      <p:sp>
        <p:nvSpPr>
          <p:cNvPr id="37" name="Shape 35"/>
          <p:cNvSpPr/>
          <p:nvPr/>
        </p:nvSpPr>
        <p:spPr>
          <a:xfrm>
            <a:off x="2240280" y="3447288"/>
            <a:ext cx="1463040" cy="320040"/>
          </a:xfrm>
          <a:prstGeom prst="rect">
            <a:avLst/>
          </a:prstGeom>
          <a:solidFill>
            <a:srgbClr val="FFFFFF"/>
          </a:solidFill>
          <a:ln w="6350">
            <a:solidFill>
              <a:srgbClr val="E8E8E8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2331720" y="3447288"/>
            <a:ext cx="137160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4A4A4A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Categorical</a:t>
            </a:r>
            <a:endParaRPr lang="en-US" sz="1000" dirty="0"/>
          </a:p>
        </p:txBody>
      </p:sp>
      <p:sp>
        <p:nvSpPr>
          <p:cNvPr id="39" name="Shape 37"/>
          <p:cNvSpPr/>
          <p:nvPr/>
        </p:nvSpPr>
        <p:spPr>
          <a:xfrm>
            <a:off x="3703320" y="3447288"/>
            <a:ext cx="5029200" cy="320040"/>
          </a:xfrm>
          <a:prstGeom prst="rect">
            <a:avLst/>
          </a:prstGeom>
          <a:solidFill>
            <a:srgbClr val="FFFFFF"/>
          </a:solidFill>
          <a:ln w="6350">
            <a:solidFill>
              <a:srgbClr val="E8E8E8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3794760" y="3447288"/>
            <a:ext cx="493776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4A4A4A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Month-to-month, One year, or Two year</a:t>
            </a:r>
            <a:endParaRPr lang="en-US" sz="1000" dirty="0"/>
          </a:p>
        </p:txBody>
      </p:sp>
      <p:sp>
        <p:nvSpPr>
          <p:cNvPr id="41" name="Shape 39"/>
          <p:cNvSpPr/>
          <p:nvPr/>
        </p:nvSpPr>
        <p:spPr>
          <a:xfrm>
            <a:off x="411480" y="3767328"/>
            <a:ext cx="1828800" cy="320040"/>
          </a:xfrm>
          <a:prstGeom prst="rect">
            <a:avLst/>
          </a:prstGeom>
          <a:solidFill>
            <a:srgbClr val="F5F5F5"/>
          </a:solidFill>
          <a:ln w="6350">
            <a:solidFill>
              <a:srgbClr val="E8E8E8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502920" y="3767328"/>
            <a:ext cx="173736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0D0D0D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PaymentMethod</a:t>
            </a:r>
            <a:endParaRPr lang="en-US" sz="1000" dirty="0"/>
          </a:p>
        </p:txBody>
      </p:sp>
      <p:sp>
        <p:nvSpPr>
          <p:cNvPr id="43" name="Shape 41"/>
          <p:cNvSpPr/>
          <p:nvPr/>
        </p:nvSpPr>
        <p:spPr>
          <a:xfrm>
            <a:off x="2240280" y="3767328"/>
            <a:ext cx="1463040" cy="320040"/>
          </a:xfrm>
          <a:prstGeom prst="rect">
            <a:avLst/>
          </a:prstGeom>
          <a:solidFill>
            <a:srgbClr val="F5F5F5"/>
          </a:solidFill>
          <a:ln w="6350">
            <a:solidFill>
              <a:srgbClr val="E8E8E8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2331720" y="3767328"/>
            <a:ext cx="137160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4A4A4A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Categorical</a:t>
            </a:r>
            <a:endParaRPr lang="en-US" sz="1000" dirty="0"/>
          </a:p>
        </p:txBody>
      </p:sp>
      <p:sp>
        <p:nvSpPr>
          <p:cNvPr id="45" name="Shape 43"/>
          <p:cNvSpPr/>
          <p:nvPr/>
        </p:nvSpPr>
        <p:spPr>
          <a:xfrm>
            <a:off x="3703320" y="3767328"/>
            <a:ext cx="5029200" cy="320040"/>
          </a:xfrm>
          <a:prstGeom prst="rect">
            <a:avLst/>
          </a:prstGeom>
          <a:solidFill>
            <a:srgbClr val="F5F5F5"/>
          </a:solidFill>
          <a:ln w="6350">
            <a:solidFill>
              <a:srgbClr val="E8E8E8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3794760" y="3767328"/>
            <a:ext cx="493776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4A4A4A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Electronic check, Bank transfer, Credit card, etc.</a:t>
            </a:r>
            <a:endParaRPr lang="en-US" sz="1000" dirty="0"/>
          </a:p>
        </p:txBody>
      </p:sp>
      <p:sp>
        <p:nvSpPr>
          <p:cNvPr id="47" name="Shape 45"/>
          <p:cNvSpPr/>
          <p:nvPr/>
        </p:nvSpPr>
        <p:spPr>
          <a:xfrm>
            <a:off x="411480" y="4087368"/>
            <a:ext cx="1828800" cy="320040"/>
          </a:xfrm>
          <a:prstGeom prst="rect">
            <a:avLst/>
          </a:prstGeom>
          <a:solidFill>
            <a:srgbClr val="FFFFFF"/>
          </a:solidFill>
          <a:ln w="6350">
            <a:solidFill>
              <a:srgbClr val="E8E8E8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502920" y="4087368"/>
            <a:ext cx="173736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0D0D0D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CustomerSupportCalls</a:t>
            </a:r>
            <a:endParaRPr lang="en-US" sz="1000" dirty="0"/>
          </a:p>
        </p:txBody>
      </p:sp>
      <p:sp>
        <p:nvSpPr>
          <p:cNvPr id="49" name="Shape 47"/>
          <p:cNvSpPr/>
          <p:nvPr/>
        </p:nvSpPr>
        <p:spPr>
          <a:xfrm>
            <a:off x="2240280" y="4087368"/>
            <a:ext cx="1463040" cy="320040"/>
          </a:xfrm>
          <a:prstGeom prst="rect">
            <a:avLst/>
          </a:prstGeom>
          <a:solidFill>
            <a:srgbClr val="FFFFFF"/>
          </a:solidFill>
          <a:ln w="6350">
            <a:solidFill>
              <a:srgbClr val="E8E8E8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2331720" y="4087368"/>
            <a:ext cx="137160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4A4A4A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Integer</a:t>
            </a:r>
            <a:endParaRPr lang="en-US" sz="1000" dirty="0"/>
          </a:p>
        </p:txBody>
      </p:sp>
      <p:sp>
        <p:nvSpPr>
          <p:cNvPr id="51" name="Shape 49"/>
          <p:cNvSpPr/>
          <p:nvPr/>
        </p:nvSpPr>
        <p:spPr>
          <a:xfrm>
            <a:off x="3703320" y="4087368"/>
            <a:ext cx="5029200" cy="320040"/>
          </a:xfrm>
          <a:prstGeom prst="rect">
            <a:avLst/>
          </a:prstGeom>
          <a:solidFill>
            <a:srgbClr val="FFFFFF"/>
          </a:solidFill>
          <a:ln w="6350">
            <a:solidFill>
              <a:srgbClr val="E8E8E8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3794760" y="4087368"/>
            <a:ext cx="493776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4A4A4A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Number of support calls made (0–10)</a:t>
            </a:r>
            <a:endParaRPr lang="en-US" sz="1000" dirty="0"/>
          </a:p>
        </p:txBody>
      </p:sp>
      <p:sp>
        <p:nvSpPr>
          <p:cNvPr id="53" name="Shape 51"/>
          <p:cNvSpPr/>
          <p:nvPr/>
        </p:nvSpPr>
        <p:spPr>
          <a:xfrm>
            <a:off x="411480" y="4407408"/>
            <a:ext cx="1828800" cy="320040"/>
          </a:xfrm>
          <a:prstGeom prst="rect">
            <a:avLst/>
          </a:prstGeom>
          <a:solidFill>
            <a:srgbClr val="F5F5F5"/>
          </a:solidFill>
          <a:ln w="6350">
            <a:solidFill>
              <a:srgbClr val="E8E8E8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502920" y="4407408"/>
            <a:ext cx="173736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0D0D0D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Churn (Target)</a:t>
            </a:r>
            <a:endParaRPr lang="en-US" sz="1000" dirty="0"/>
          </a:p>
        </p:txBody>
      </p:sp>
      <p:sp>
        <p:nvSpPr>
          <p:cNvPr id="55" name="Shape 53"/>
          <p:cNvSpPr/>
          <p:nvPr/>
        </p:nvSpPr>
        <p:spPr>
          <a:xfrm>
            <a:off x="2240280" y="4407408"/>
            <a:ext cx="1463040" cy="320040"/>
          </a:xfrm>
          <a:prstGeom prst="rect">
            <a:avLst/>
          </a:prstGeom>
          <a:solidFill>
            <a:srgbClr val="F5F5F5"/>
          </a:solidFill>
          <a:ln w="6350">
            <a:solidFill>
              <a:srgbClr val="E8E8E8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2331720" y="4407408"/>
            <a:ext cx="137160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4A4A4A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Binary</a:t>
            </a:r>
            <a:endParaRPr lang="en-US" sz="1000" dirty="0"/>
          </a:p>
        </p:txBody>
      </p:sp>
      <p:sp>
        <p:nvSpPr>
          <p:cNvPr id="57" name="Shape 55"/>
          <p:cNvSpPr/>
          <p:nvPr/>
        </p:nvSpPr>
        <p:spPr>
          <a:xfrm>
            <a:off x="3703320" y="4407408"/>
            <a:ext cx="5029200" cy="320040"/>
          </a:xfrm>
          <a:prstGeom prst="rect">
            <a:avLst/>
          </a:prstGeom>
          <a:solidFill>
            <a:srgbClr val="F5F5F5"/>
          </a:solidFill>
          <a:ln w="6350">
            <a:solidFill>
              <a:srgbClr val="E8E8E8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3794760" y="4407408"/>
            <a:ext cx="493776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4A4A4A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Whether the customer churned: Yes (1) or No (0)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01168"/>
            <a:ext cx="8321040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50" kern="0" spc="300" dirty="0">
                <a:solidFill>
                  <a:srgbClr val="767676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METHODOLOGY</a:t>
            </a:r>
            <a:endParaRPr lang="en-US" sz="750" dirty="0"/>
          </a:p>
        </p:txBody>
      </p:sp>
      <p:sp>
        <p:nvSpPr>
          <p:cNvPr id="3" name="Text 1"/>
          <p:cNvSpPr/>
          <p:nvPr/>
        </p:nvSpPr>
        <p:spPr>
          <a:xfrm>
            <a:off x="411480" y="438912"/>
            <a:ext cx="8321040" cy="6400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0D0D0D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Project Workflow — 8 Steps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411480" y="1115568"/>
            <a:ext cx="8321040" cy="18288"/>
          </a:xfrm>
          <a:prstGeom prst="rect">
            <a:avLst/>
          </a:prstGeom>
          <a:solidFill>
            <a:srgbClr val="0D0D0D"/>
          </a:solidFill>
          <a:ln w="12700">
            <a:solidFill>
              <a:srgbClr val="0D0D0D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11480" y="4828032"/>
            <a:ext cx="8321040" cy="18288"/>
          </a:xfrm>
          <a:prstGeom prst="rect">
            <a:avLst/>
          </a:prstGeom>
          <a:solidFill>
            <a:srgbClr val="E8E8E8"/>
          </a:solidFill>
          <a:ln w="12700">
            <a:solidFill>
              <a:srgbClr val="E8E8E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11480" y="4864608"/>
            <a:ext cx="6858000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endParaRPr lang="en-US" sz="700" dirty="0"/>
          </a:p>
        </p:txBody>
      </p:sp>
      <p:sp>
        <p:nvSpPr>
          <p:cNvPr id="7" name="Text 5"/>
          <p:cNvSpPr/>
          <p:nvPr/>
        </p:nvSpPr>
        <p:spPr>
          <a:xfrm>
            <a:off x="8321040" y="4864608"/>
            <a:ext cx="411480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00" dirty="0">
                <a:solidFill>
                  <a:srgbClr val="767676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5</a:t>
            </a:r>
            <a:endParaRPr lang="en-US" sz="700" dirty="0"/>
          </a:p>
        </p:txBody>
      </p:sp>
      <p:sp>
        <p:nvSpPr>
          <p:cNvPr id="8" name="Shape 6"/>
          <p:cNvSpPr/>
          <p:nvPr/>
        </p:nvSpPr>
        <p:spPr>
          <a:xfrm>
            <a:off x="411480" y="1261872"/>
            <a:ext cx="1920240" cy="1600200"/>
          </a:xfrm>
          <a:prstGeom prst="rect">
            <a:avLst/>
          </a:prstGeom>
          <a:solidFill>
            <a:srgbClr val="0D0D0D"/>
          </a:solidFill>
          <a:ln w="12700">
            <a:solidFill>
              <a:srgbClr val="E8E8E8"/>
            </a:solidFill>
            <a:prstDash val="solid"/>
          </a:ln>
          <a:effectLst>
            <a:outerShdw blurRad="101600" dist="38100" dir="2700000" algn="bl" rotWithShape="0">
              <a:srgbClr val="000000">
                <a:alpha val="14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521208" y="1371600"/>
            <a:ext cx="502920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767676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01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521208" y="1755648"/>
            <a:ext cx="1700784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Data Collection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521208" y="2139696"/>
            <a:ext cx="1700784" cy="658368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50" dirty="0">
                <a:solidFill>
                  <a:srgbClr val="F5F5F5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1,000 Telco-style records generated with realistic churn drivers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2514600" y="1261872"/>
            <a:ext cx="1920240" cy="1600200"/>
          </a:xfrm>
          <a:prstGeom prst="rect">
            <a:avLst/>
          </a:prstGeom>
          <a:solidFill>
            <a:srgbClr val="F5F5F5"/>
          </a:solidFill>
          <a:ln w="12700">
            <a:solidFill>
              <a:srgbClr val="E8E8E8"/>
            </a:solidFill>
            <a:prstDash val="solid"/>
          </a:ln>
          <a:effectLst>
            <a:outerShdw blurRad="101600" dist="38100" dir="2700000" algn="bl" rotWithShape="0">
              <a:srgbClr val="000000">
                <a:alpha val="14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624328" y="1371600"/>
            <a:ext cx="502920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E8E8E8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02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2624328" y="1755648"/>
            <a:ext cx="1700784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0D0D0D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Cleaning &amp; Preprocessing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2624328" y="2139696"/>
            <a:ext cx="1700784" cy="658368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50" dirty="0">
                <a:solidFill>
                  <a:srgbClr val="4A4A4A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Encoding, normalisation, duplicate &amp; null checks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4617720" y="1261872"/>
            <a:ext cx="1920240" cy="1600200"/>
          </a:xfrm>
          <a:prstGeom prst="rect">
            <a:avLst/>
          </a:prstGeom>
          <a:solidFill>
            <a:srgbClr val="0D0D0D"/>
          </a:solidFill>
          <a:ln w="12700">
            <a:solidFill>
              <a:srgbClr val="E8E8E8"/>
            </a:solidFill>
            <a:prstDash val="solid"/>
          </a:ln>
          <a:effectLst>
            <a:outerShdw blurRad="101600" dist="38100" dir="2700000" algn="bl" rotWithShape="0">
              <a:srgbClr val="000000">
                <a:alpha val="14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4727448" y="1371600"/>
            <a:ext cx="502920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767676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03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4727448" y="1755648"/>
            <a:ext cx="1700784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EDA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4727448" y="2139696"/>
            <a:ext cx="1700784" cy="658368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50" dirty="0">
                <a:solidFill>
                  <a:srgbClr val="F5F5F5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11 visualisation charts — distributions, correlations, box plots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6720840" y="1261872"/>
            <a:ext cx="1920240" cy="1600200"/>
          </a:xfrm>
          <a:prstGeom prst="rect">
            <a:avLst/>
          </a:prstGeom>
          <a:solidFill>
            <a:srgbClr val="F5F5F5"/>
          </a:solidFill>
          <a:ln w="12700">
            <a:solidFill>
              <a:srgbClr val="E8E8E8"/>
            </a:solidFill>
            <a:prstDash val="solid"/>
          </a:ln>
          <a:effectLst>
            <a:outerShdw blurRad="101600" dist="38100" dir="2700000" algn="bl" rotWithShape="0">
              <a:srgbClr val="000000">
                <a:alpha val="14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6830568" y="1371600"/>
            <a:ext cx="502920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E8E8E8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04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6830568" y="1755648"/>
            <a:ext cx="1700784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0D0D0D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Feature Engineering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6830568" y="2139696"/>
            <a:ext cx="1700784" cy="658368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50" dirty="0">
                <a:solidFill>
                  <a:srgbClr val="4A4A4A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4 new features: ChargesPerMonth, SupportCallRate, IsNewCustomer, IsHighValue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411480" y="3044952"/>
            <a:ext cx="1920240" cy="1600200"/>
          </a:xfrm>
          <a:prstGeom prst="rect">
            <a:avLst/>
          </a:prstGeom>
          <a:solidFill>
            <a:srgbClr val="0D0D0D"/>
          </a:solidFill>
          <a:ln w="12700">
            <a:solidFill>
              <a:srgbClr val="E8E8E8"/>
            </a:solidFill>
            <a:prstDash val="solid"/>
          </a:ln>
          <a:effectLst>
            <a:outerShdw blurRad="101600" dist="38100" dir="2700000" algn="bl" rotWithShape="0">
              <a:srgbClr val="000000">
                <a:alpha val="14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521208" y="3154680"/>
            <a:ext cx="502920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767676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05</a:t>
            </a:r>
            <a:endParaRPr lang="en-US" sz="1800" dirty="0"/>
          </a:p>
        </p:txBody>
      </p:sp>
      <p:sp>
        <p:nvSpPr>
          <p:cNvPr id="26" name="Text 24"/>
          <p:cNvSpPr/>
          <p:nvPr/>
        </p:nvSpPr>
        <p:spPr>
          <a:xfrm>
            <a:off x="521208" y="3538728"/>
            <a:ext cx="1700784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Model Training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521208" y="3922776"/>
            <a:ext cx="1700784" cy="658368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50" dirty="0">
                <a:solidFill>
                  <a:srgbClr val="F5F5F5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80/20 split, 5-Fold CV across 4 algorithms</a:t>
            </a:r>
            <a:endParaRPr lang="en-US" sz="950" dirty="0"/>
          </a:p>
        </p:txBody>
      </p:sp>
      <p:sp>
        <p:nvSpPr>
          <p:cNvPr id="28" name="Shape 26"/>
          <p:cNvSpPr/>
          <p:nvPr/>
        </p:nvSpPr>
        <p:spPr>
          <a:xfrm>
            <a:off x="2514600" y="3044952"/>
            <a:ext cx="1920240" cy="1600200"/>
          </a:xfrm>
          <a:prstGeom prst="rect">
            <a:avLst/>
          </a:prstGeom>
          <a:solidFill>
            <a:srgbClr val="F5F5F5"/>
          </a:solidFill>
          <a:ln w="12700">
            <a:solidFill>
              <a:srgbClr val="E8E8E8"/>
            </a:solidFill>
            <a:prstDash val="solid"/>
          </a:ln>
          <a:effectLst>
            <a:outerShdw blurRad="101600" dist="38100" dir="2700000" algn="bl" rotWithShape="0">
              <a:srgbClr val="000000">
                <a:alpha val="14000"/>
              </a:srgbClr>
            </a:outerShdw>
          </a:effectLst>
        </p:spPr>
      </p:sp>
      <p:sp>
        <p:nvSpPr>
          <p:cNvPr id="29" name="Text 27"/>
          <p:cNvSpPr/>
          <p:nvPr/>
        </p:nvSpPr>
        <p:spPr>
          <a:xfrm>
            <a:off x="2624328" y="3154680"/>
            <a:ext cx="502920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E8E8E8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06</a:t>
            </a:r>
            <a:endParaRPr lang="en-US" sz="1800" dirty="0"/>
          </a:p>
        </p:txBody>
      </p:sp>
      <p:sp>
        <p:nvSpPr>
          <p:cNvPr id="30" name="Text 28"/>
          <p:cNvSpPr/>
          <p:nvPr/>
        </p:nvSpPr>
        <p:spPr>
          <a:xfrm>
            <a:off x="2624328" y="3538728"/>
            <a:ext cx="1700784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0D0D0D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Model Evaluation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2624328" y="3922776"/>
            <a:ext cx="1700784" cy="658368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50" dirty="0">
                <a:solidFill>
                  <a:srgbClr val="4A4A4A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Accuracy, Precision, Recall, F1, ROC-AUC + confusion matrices</a:t>
            </a:r>
            <a:endParaRPr lang="en-US" sz="950" dirty="0"/>
          </a:p>
        </p:txBody>
      </p:sp>
      <p:sp>
        <p:nvSpPr>
          <p:cNvPr id="32" name="Shape 30"/>
          <p:cNvSpPr/>
          <p:nvPr/>
        </p:nvSpPr>
        <p:spPr>
          <a:xfrm>
            <a:off x="4617720" y="3044952"/>
            <a:ext cx="1920240" cy="1600200"/>
          </a:xfrm>
          <a:prstGeom prst="rect">
            <a:avLst/>
          </a:prstGeom>
          <a:solidFill>
            <a:srgbClr val="0D0D0D"/>
          </a:solidFill>
          <a:ln w="12700">
            <a:solidFill>
              <a:srgbClr val="E8E8E8"/>
            </a:solidFill>
            <a:prstDash val="solid"/>
          </a:ln>
          <a:effectLst>
            <a:outerShdw blurRad="101600" dist="38100" dir="2700000" algn="bl" rotWithShape="0">
              <a:srgbClr val="000000">
                <a:alpha val="14000"/>
              </a:srgbClr>
            </a:outerShdw>
          </a:effectLst>
        </p:spPr>
      </p:sp>
      <p:sp>
        <p:nvSpPr>
          <p:cNvPr id="33" name="Text 31"/>
          <p:cNvSpPr/>
          <p:nvPr/>
        </p:nvSpPr>
        <p:spPr>
          <a:xfrm>
            <a:off x="4727448" y="3154680"/>
            <a:ext cx="502920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767676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07</a:t>
            </a:r>
            <a:endParaRPr lang="en-US" sz="1800" dirty="0"/>
          </a:p>
        </p:txBody>
      </p:sp>
      <p:sp>
        <p:nvSpPr>
          <p:cNvPr id="34" name="Text 32"/>
          <p:cNvSpPr/>
          <p:nvPr/>
        </p:nvSpPr>
        <p:spPr>
          <a:xfrm>
            <a:off x="4727448" y="3538728"/>
            <a:ext cx="1700784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Prediction &amp; Risk Tiers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4727448" y="3922776"/>
            <a:ext cx="1700784" cy="658368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50" dirty="0">
                <a:solidFill>
                  <a:srgbClr val="F5F5F5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Low / Medium / High risk classification for 200 test customers</a:t>
            </a:r>
            <a:endParaRPr lang="en-US" sz="950" dirty="0"/>
          </a:p>
        </p:txBody>
      </p:sp>
      <p:sp>
        <p:nvSpPr>
          <p:cNvPr id="36" name="Shape 34"/>
          <p:cNvSpPr/>
          <p:nvPr/>
        </p:nvSpPr>
        <p:spPr>
          <a:xfrm>
            <a:off x="6720840" y="3044952"/>
            <a:ext cx="1920240" cy="1600200"/>
          </a:xfrm>
          <a:prstGeom prst="rect">
            <a:avLst/>
          </a:prstGeom>
          <a:solidFill>
            <a:srgbClr val="F5F5F5"/>
          </a:solidFill>
          <a:ln w="12700">
            <a:solidFill>
              <a:srgbClr val="E8E8E8"/>
            </a:solidFill>
            <a:prstDash val="solid"/>
          </a:ln>
          <a:effectLst>
            <a:outerShdw blurRad="101600" dist="38100" dir="2700000" algn="bl" rotWithShape="0">
              <a:srgbClr val="000000">
                <a:alpha val="14000"/>
              </a:srgbClr>
            </a:outerShdw>
          </a:effectLst>
        </p:spPr>
      </p:sp>
      <p:sp>
        <p:nvSpPr>
          <p:cNvPr id="37" name="Text 35"/>
          <p:cNvSpPr/>
          <p:nvPr/>
        </p:nvSpPr>
        <p:spPr>
          <a:xfrm>
            <a:off x="6830568" y="3154680"/>
            <a:ext cx="502920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E8E8E8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08</a:t>
            </a:r>
            <a:endParaRPr lang="en-US" sz="1800" dirty="0"/>
          </a:p>
        </p:txBody>
      </p:sp>
      <p:sp>
        <p:nvSpPr>
          <p:cNvPr id="38" name="Text 36"/>
          <p:cNvSpPr/>
          <p:nvPr/>
        </p:nvSpPr>
        <p:spPr>
          <a:xfrm>
            <a:off x="6830568" y="3538728"/>
            <a:ext cx="1700784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0D0D0D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Deployment</a:t>
            </a:r>
            <a:endParaRPr lang="en-US" sz="1100" dirty="0"/>
          </a:p>
        </p:txBody>
      </p:sp>
      <p:sp>
        <p:nvSpPr>
          <p:cNvPr id="39" name="Text 37"/>
          <p:cNvSpPr/>
          <p:nvPr/>
        </p:nvSpPr>
        <p:spPr>
          <a:xfrm>
            <a:off x="6830568" y="3922776"/>
            <a:ext cx="1700784" cy="658368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50" dirty="0">
                <a:solidFill>
                  <a:srgbClr val="4A4A4A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Serialised .pkl model, REST API ready, CRM integration</a:t>
            </a:r>
            <a:endParaRPr lang="en-US" sz="9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01168"/>
            <a:ext cx="8321040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50" kern="0" spc="300" dirty="0">
                <a:solidFill>
                  <a:srgbClr val="767676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EXPLORATORY DATA ANALYSIS</a:t>
            </a:r>
            <a:endParaRPr lang="en-US" sz="750" dirty="0"/>
          </a:p>
        </p:txBody>
      </p:sp>
      <p:sp>
        <p:nvSpPr>
          <p:cNvPr id="3" name="Text 1"/>
          <p:cNvSpPr/>
          <p:nvPr/>
        </p:nvSpPr>
        <p:spPr>
          <a:xfrm>
            <a:off x="411480" y="438912"/>
            <a:ext cx="8321040" cy="6400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0D0D0D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Key Findings from EDA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411480" y="1115568"/>
            <a:ext cx="8321040" cy="18288"/>
          </a:xfrm>
          <a:prstGeom prst="rect">
            <a:avLst/>
          </a:prstGeom>
          <a:solidFill>
            <a:srgbClr val="0D0D0D"/>
          </a:solidFill>
          <a:ln w="12700">
            <a:solidFill>
              <a:srgbClr val="0D0D0D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11480" y="4828032"/>
            <a:ext cx="8321040" cy="18288"/>
          </a:xfrm>
          <a:prstGeom prst="rect">
            <a:avLst/>
          </a:prstGeom>
          <a:solidFill>
            <a:srgbClr val="E8E8E8"/>
          </a:solidFill>
          <a:ln w="12700">
            <a:solidFill>
              <a:srgbClr val="E8E8E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11480" y="4864608"/>
            <a:ext cx="6858000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endParaRPr lang="en-US" sz="700" dirty="0"/>
          </a:p>
        </p:txBody>
      </p:sp>
      <p:sp>
        <p:nvSpPr>
          <p:cNvPr id="7" name="Text 5"/>
          <p:cNvSpPr/>
          <p:nvPr/>
        </p:nvSpPr>
        <p:spPr>
          <a:xfrm>
            <a:off x="8321040" y="4864608"/>
            <a:ext cx="411480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00" dirty="0">
                <a:solidFill>
                  <a:srgbClr val="767676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6</a:t>
            </a:r>
            <a:endParaRPr lang="en-US" sz="700" dirty="0"/>
          </a:p>
        </p:txBody>
      </p:sp>
      <p:sp>
        <p:nvSpPr>
          <p:cNvPr id="8" name="Shape 6"/>
          <p:cNvSpPr/>
          <p:nvPr/>
        </p:nvSpPr>
        <p:spPr>
          <a:xfrm>
            <a:off x="411480" y="1261872"/>
            <a:ext cx="3200400" cy="3383280"/>
          </a:xfrm>
          <a:prstGeom prst="rect">
            <a:avLst/>
          </a:prstGeom>
          <a:solidFill>
            <a:srgbClr val="0D0D0D"/>
          </a:solidFill>
          <a:ln w="12700">
            <a:solidFill>
              <a:srgbClr val="0D0D0D"/>
            </a:solidFill>
            <a:prstDash val="solid"/>
          </a:ln>
          <a:effectLst>
            <a:outerShdw blurRad="101600" dist="38100" dir="2700000" algn="bl" rotWithShape="0">
              <a:srgbClr val="000000">
                <a:alpha val="14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502920" y="1389888"/>
            <a:ext cx="301752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kern="0" spc="200" dirty="0">
                <a:solidFill>
                  <a:srgbClr val="767676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CHURN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b="1" kern="0" spc="200" dirty="0">
                <a:solidFill>
                  <a:srgbClr val="767676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DISTRIBUTION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731520" y="2057400"/>
            <a:ext cx="1005840" cy="1691640"/>
          </a:xfrm>
          <a:prstGeom prst="rect">
            <a:avLst/>
          </a:prstGeom>
          <a:solidFill>
            <a:srgbClr val="4A4A4A"/>
          </a:solidFill>
          <a:ln w="12700">
            <a:solidFill>
              <a:srgbClr val="4A4A4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31520" y="2121408"/>
            <a:ext cx="100584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61%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685800" y="3794760"/>
            <a:ext cx="109728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E8E8E8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Retained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2011680" y="2606040"/>
            <a:ext cx="1005840" cy="1143000"/>
          </a:xfrm>
          <a:prstGeom prst="rect">
            <a:avLst/>
          </a:prstGeom>
          <a:solidFill>
            <a:srgbClr val="767676"/>
          </a:solidFill>
          <a:ln w="12700">
            <a:solidFill>
              <a:srgbClr val="767676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011680" y="2670048"/>
            <a:ext cx="100584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39%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1965960" y="3794760"/>
            <a:ext cx="109728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E8E8E8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Churned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3794760" y="1261872"/>
            <a:ext cx="4937760" cy="749808"/>
          </a:xfrm>
          <a:prstGeom prst="rect">
            <a:avLst/>
          </a:prstGeom>
          <a:solidFill>
            <a:srgbClr val="F5F5F5"/>
          </a:solidFill>
          <a:ln w="6350">
            <a:solidFill>
              <a:srgbClr val="E8E8E8"/>
            </a:solidFill>
            <a:prstDash val="solid"/>
          </a:ln>
          <a:effectLst>
            <a:outerShdw blurRad="101600" dist="38100" dir="2700000" algn="bl" rotWithShape="0">
              <a:srgbClr val="000000">
                <a:alpha val="14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3977640" y="1353312"/>
            <a:ext cx="457200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50" b="1" dirty="0">
                <a:solidFill>
                  <a:srgbClr val="0D0D0D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Contract Type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3977640" y="1627632"/>
            <a:ext cx="4572000" cy="32918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4A4A4A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Month-to-month customers churn far more than 1-year or 2-year contract holders.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3794760" y="2103120"/>
            <a:ext cx="4937760" cy="749808"/>
          </a:xfrm>
          <a:prstGeom prst="rect">
            <a:avLst/>
          </a:prstGeom>
          <a:solidFill>
            <a:srgbClr val="FFFFFF"/>
          </a:solidFill>
          <a:ln w="6350">
            <a:solidFill>
              <a:srgbClr val="E8E8E8"/>
            </a:solidFill>
            <a:prstDash val="solid"/>
          </a:ln>
          <a:effectLst>
            <a:outerShdw blurRad="101600" dist="38100" dir="2700000" algn="bl" rotWithShape="0">
              <a:srgbClr val="000000">
                <a:alpha val="14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3977640" y="2194560"/>
            <a:ext cx="457200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50" b="1" dirty="0">
                <a:solidFill>
                  <a:srgbClr val="0D0D0D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Tenure</a:t>
            </a:r>
            <a:endParaRPr lang="en-US" sz="1150" dirty="0"/>
          </a:p>
        </p:txBody>
      </p:sp>
      <p:sp>
        <p:nvSpPr>
          <p:cNvPr id="21" name="Text 19"/>
          <p:cNvSpPr/>
          <p:nvPr/>
        </p:nvSpPr>
        <p:spPr>
          <a:xfrm>
            <a:off x="3977640" y="2468880"/>
            <a:ext cx="4572000" cy="32918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4A4A4A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Churned customers have significantly shorter tenure — new customers are most at risk.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3794760" y="2944368"/>
            <a:ext cx="4937760" cy="749808"/>
          </a:xfrm>
          <a:prstGeom prst="rect">
            <a:avLst/>
          </a:prstGeom>
          <a:solidFill>
            <a:srgbClr val="F5F5F5"/>
          </a:solidFill>
          <a:ln w="6350">
            <a:solidFill>
              <a:srgbClr val="E8E8E8"/>
            </a:solidFill>
            <a:prstDash val="solid"/>
          </a:ln>
          <a:effectLst>
            <a:outerShdw blurRad="101600" dist="38100" dir="2700000" algn="bl" rotWithShape="0">
              <a:srgbClr val="000000">
                <a:alpha val="14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3977640" y="3035808"/>
            <a:ext cx="457200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50" b="1" dirty="0">
                <a:solidFill>
                  <a:srgbClr val="0D0D0D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Monthly Charges</a:t>
            </a:r>
            <a:endParaRPr lang="en-US" sz="1150" dirty="0"/>
          </a:p>
        </p:txBody>
      </p:sp>
      <p:sp>
        <p:nvSpPr>
          <p:cNvPr id="24" name="Text 22"/>
          <p:cNvSpPr/>
          <p:nvPr/>
        </p:nvSpPr>
        <p:spPr>
          <a:xfrm>
            <a:off x="3977640" y="3310128"/>
            <a:ext cx="4572000" cy="32918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4A4A4A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Higher monthly bills are strongly associated with increased churn probability.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3794760" y="3785616"/>
            <a:ext cx="4937760" cy="749808"/>
          </a:xfrm>
          <a:prstGeom prst="rect">
            <a:avLst/>
          </a:prstGeom>
          <a:solidFill>
            <a:srgbClr val="FFFFFF"/>
          </a:solidFill>
          <a:ln w="6350">
            <a:solidFill>
              <a:srgbClr val="E8E8E8"/>
            </a:solidFill>
            <a:prstDash val="solid"/>
          </a:ln>
          <a:effectLst>
            <a:outerShdw blurRad="101600" dist="38100" dir="2700000" algn="bl" rotWithShape="0">
              <a:srgbClr val="000000">
                <a:alpha val="14000"/>
              </a:srgbClr>
            </a:outerShdw>
          </a:effectLst>
        </p:spPr>
      </p:sp>
      <p:sp>
        <p:nvSpPr>
          <p:cNvPr id="26" name="Text 24"/>
          <p:cNvSpPr/>
          <p:nvPr/>
        </p:nvSpPr>
        <p:spPr>
          <a:xfrm>
            <a:off x="3977640" y="3877056"/>
            <a:ext cx="457200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50" b="1" dirty="0">
                <a:solidFill>
                  <a:srgbClr val="0D0D0D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Support Calls</a:t>
            </a:r>
            <a:endParaRPr lang="en-US" sz="1150" dirty="0"/>
          </a:p>
        </p:txBody>
      </p:sp>
      <p:sp>
        <p:nvSpPr>
          <p:cNvPr id="27" name="Text 25"/>
          <p:cNvSpPr/>
          <p:nvPr/>
        </p:nvSpPr>
        <p:spPr>
          <a:xfrm>
            <a:off x="3977640" y="4151376"/>
            <a:ext cx="4572000" cy="32918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4A4A4A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More customer support calls = higher dissatisfaction = higher churn likelihood.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01168"/>
            <a:ext cx="8321040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50" kern="0" spc="300" dirty="0">
                <a:solidFill>
                  <a:srgbClr val="767676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MACHINE LEARNING MODELS</a:t>
            </a:r>
            <a:endParaRPr lang="en-US" sz="750" dirty="0"/>
          </a:p>
        </p:txBody>
      </p:sp>
      <p:sp>
        <p:nvSpPr>
          <p:cNvPr id="3" name="Text 1"/>
          <p:cNvSpPr/>
          <p:nvPr/>
        </p:nvSpPr>
        <p:spPr>
          <a:xfrm>
            <a:off x="411480" y="438912"/>
            <a:ext cx="8321040" cy="6400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0D0D0D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Models Trained &amp; Evaluated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411480" y="1115568"/>
            <a:ext cx="8321040" cy="18288"/>
          </a:xfrm>
          <a:prstGeom prst="rect">
            <a:avLst/>
          </a:prstGeom>
          <a:solidFill>
            <a:srgbClr val="0D0D0D"/>
          </a:solidFill>
          <a:ln w="12700">
            <a:solidFill>
              <a:srgbClr val="0D0D0D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11480" y="4828032"/>
            <a:ext cx="8321040" cy="18288"/>
          </a:xfrm>
          <a:prstGeom prst="rect">
            <a:avLst/>
          </a:prstGeom>
          <a:solidFill>
            <a:srgbClr val="E8E8E8"/>
          </a:solidFill>
          <a:ln w="12700">
            <a:solidFill>
              <a:srgbClr val="E8E8E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11480" y="4864608"/>
            <a:ext cx="6858000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endParaRPr lang="en-US" sz="700" dirty="0"/>
          </a:p>
        </p:txBody>
      </p:sp>
      <p:sp>
        <p:nvSpPr>
          <p:cNvPr id="7" name="Text 5"/>
          <p:cNvSpPr/>
          <p:nvPr/>
        </p:nvSpPr>
        <p:spPr>
          <a:xfrm>
            <a:off x="8321040" y="4864608"/>
            <a:ext cx="411480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00" dirty="0">
                <a:solidFill>
                  <a:srgbClr val="767676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7</a:t>
            </a:r>
            <a:endParaRPr lang="en-US" sz="700" dirty="0"/>
          </a:p>
        </p:txBody>
      </p:sp>
      <p:sp>
        <p:nvSpPr>
          <p:cNvPr id="8" name="Shape 6"/>
          <p:cNvSpPr/>
          <p:nvPr/>
        </p:nvSpPr>
        <p:spPr>
          <a:xfrm>
            <a:off x="411480" y="1261872"/>
            <a:ext cx="1920240" cy="3383280"/>
          </a:xfrm>
          <a:prstGeom prst="rect">
            <a:avLst/>
          </a:prstGeom>
          <a:solidFill>
            <a:srgbClr val="F5F5F5"/>
          </a:solidFill>
          <a:ln w="12700">
            <a:solidFill>
              <a:srgbClr val="E8E8E8"/>
            </a:solidFill>
            <a:prstDash val="solid"/>
          </a:ln>
          <a:effectLst>
            <a:outerShdw blurRad="101600" dist="38100" dir="2700000" algn="bl" rotWithShape="0">
              <a:srgbClr val="000000">
                <a:alpha val="14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502920" y="1389888"/>
            <a:ext cx="1737360" cy="2377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kern="0" spc="200" dirty="0">
                <a:solidFill>
                  <a:srgbClr val="4A4A4A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BASELINE</a:t>
            </a:r>
            <a:endParaRPr lang="en-US" sz="750" dirty="0"/>
          </a:p>
        </p:txBody>
      </p:sp>
      <p:sp>
        <p:nvSpPr>
          <p:cNvPr id="10" name="Text 8"/>
          <p:cNvSpPr/>
          <p:nvPr/>
        </p:nvSpPr>
        <p:spPr>
          <a:xfrm>
            <a:off x="502920" y="1664208"/>
            <a:ext cx="1737360" cy="6583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0D0D0D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Logistic</a:t>
            </a:r>
            <a:endParaRPr lang="en-US" sz="1700" dirty="0"/>
          </a:p>
          <a:p>
            <a:pPr marL="0" indent="0" algn="ctr">
              <a:buNone/>
            </a:pPr>
            <a:r>
              <a:rPr lang="en-US" sz="1700" b="1" dirty="0">
                <a:solidFill>
                  <a:srgbClr val="0D0D0D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Regression</a:t>
            </a:r>
            <a:endParaRPr lang="en-US" sz="1700" dirty="0"/>
          </a:p>
        </p:txBody>
      </p:sp>
      <p:sp>
        <p:nvSpPr>
          <p:cNvPr id="11" name="Shape 9"/>
          <p:cNvSpPr/>
          <p:nvPr/>
        </p:nvSpPr>
        <p:spPr>
          <a:xfrm>
            <a:off x="594360" y="2395728"/>
            <a:ext cx="1554480" cy="18288"/>
          </a:xfrm>
          <a:prstGeom prst="rect">
            <a:avLst/>
          </a:prstGeom>
          <a:solidFill>
            <a:srgbClr val="E8E8E8"/>
          </a:solidFill>
          <a:ln w="12700">
            <a:solidFill>
              <a:srgbClr val="E8E8E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21208" y="2487168"/>
            <a:ext cx="1700784" cy="21945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b="1" dirty="0">
                <a:solidFill>
                  <a:srgbClr val="4A4A4A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Parameters:</a:t>
            </a:r>
            <a:endParaRPr lang="en-US" sz="850" dirty="0"/>
          </a:p>
        </p:txBody>
      </p:sp>
      <p:sp>
        <p:nvSpPr>
          <p:cNvPr id="13" name="Text 11"/>
          <p:cNvSpPr/>
          <p:nvPr/>
        </p:nvSpPr>
        <p:spPr>
          <a:xfrm>
            <a:off x="521208" y="2724912"/>
            <a:ext cx="1700784" cy="47548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i="1" dirty="0">
                <a:solidFill>
                  <a:srgbClr val="4A4A4A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max_iter=1000</a:t>
            </a:r>
            <a:endParaRPr lang="en-US" sz="950" dirty="0"/>
          </a:p>
          <a:p>
            <a:pPr marL="0" indent="0" algn="l">
              <a:buNone/>
            </a:pPr>
            <a:r>
              <a:rPr lang="en-US" sz="950" i="1" dirty="0">
                <a:solidFill>
                  <a:srgbClr val="4A4A4A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random_state=42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594360" y="3255264"/>
            <a:ext cx="1554480" cy="18288"/>
          </a:xfrm>
          <a:prstGeom prst="rect">
            <a:avLst/>
          </a:prstGeom>
          <a:solidFill>
            <a:srgbClr val="E8E8E8"/>
          </a:solidFill>
          <a:ln w="12700">
            <a:solidFill>
              <a:srgbClr val="E8E8E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21208" y="3346704"/>
            <a:ext cx="1700784" cy="118872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50" dirty="0">
                <a:solidFill>
                  <a:srgbClr val="4A4A4A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Linear classifier using the sigmoid function. Fast, interpretable, and effective for linearly separable data.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2514600" y="1261872"/>
            <a:ext cx="1920240" cy="3383280"/>
          </a:xfrm>
          <a:prstGeom prst="rect">
            <a:avLst/>
          </a:prstGeom>
          <a:solidFill>
            <a:srgbClr val="F5F5F5"/>
          </a:solidFill>
          <a:ln w="12700">
            <a:solidFill>
              <a:srgbClr val="E8E8E8"/>
            </a:solidFill>
            <a:prstDash val="solid"/>
          </a:ln>
          <a:effectLst>
            <a:outerShdw blurRad="101600" dist="38100" dir="2700000" algn="bl" rotWithShape="0">
              <a:srgbClr val="000000">
                <a:alpha val="14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2606040" y="1389888"/>
            <a:ext cx="1737360" cy="2377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kern="0" spc="200" dirty="0">
                <a:solidFill>
                  <a:srgbClr val="4A4A4A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NON-LINEAR</a:t>
            </a:r>
            <a:endParaRPr lang="en-US" sz="750" dirty="0"/>
          </a:p>
        </p:txBody>
      </p:sp>
      <p:sp>
        <p:nvSpPr>
          <p:cNvPr id="18" name="Text 16"/>
          <p:cNvSpPr/>
          <p:nvPr/>
        </p:nvSpPr>
        <p:spPr>
          <a:xfrm>
            <a:off x="2606040" y="1664208"/>
            <a:ext cx="1737360" cy="6583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0D0D0D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Decision</a:t>
            </a:r>
            <a:endParaRPr lang="en-US" sz="1700" dirty="0"/>
          </a:p>
          <a:p>
            <a:pPr marL="0" indent="0" algn="ctr">
              <a:buNone/>
            </a:pPr>
            <a:r>
              <a:rPr lang="en-US" sz="1700" b="1" dirty="0">
                <a:solidFill>
                  <a:srgbClr val="0D0D0D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Tree</a:t>
            </a:r>
            <a:endParaRPr lang="en-US" sz="1700" dirty="0"/>
          </a:p>
        </p:txBody>
      </p:sp>
      <p:sp>
        <p:nvSpPr>
          <p:cNvPr id="19" name="Shape 17"/>
          <p:cNvSpPr/>
          <p:nvPr/>
        </p:nvSpPr>
        <p:spPr>
          <a:xfrm>
            <a:off x="2697480" y="2395728"/>
            <a:ext cx="1554480" cy="18288"/>
          </a:xfrm>
          <a:prstGeom prst="rect">
            <a:avLst/>
          </a:prstGeom>
          <a:solidFill>
            <a:srgbClr val="E8E8E8"/>
          </a:solidFill>
          <a:ln w="12700">
            <a:solidFill>
              <a:srgbClr val="E8E8E8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2624328" y="2487168"/>
            <a:ext cx="1700784" cy="21945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b="1" dirty="0">
                <a:solidFill>
                  <a:srgbClr val="4A4A4A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Parameters:</a:t>
            </a:r>
            <a:endParaRPr lang="en-US" sz="850" dirty="0"/>
          </a:p>
        </p:txBody>
      </p:sp>
      <p:sp>
        <p:nvSpPr>
          <p:cNvPr id="21" name="Text 19"/>
          <p:cNvSpPr/>
          <p:nvPr/>
        </p:nvSpPr>
        <p:spPr>
          <a:xfrm>
            <a:off x="2624328" y="2724912"/>
            <a:ext cx="1700784" cy="47548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i="1" dirty="0">
                <a:solidFill>
                  <a:srgbClr val="4A4A4A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max_depth=6</a:t>
            </a:r>
            <a:endParaRPr lang="en-US" sz="950" dirty="0"/>
          </a:p>
          <a:p>
            <a:pPr marL="0" indent="0" algn="l">
              <a:buNone/>
            </a:pPr>
            <a:r>
              <a:rPr lang="en-US" sz="950" i="1" dirty="0">
                <a:solidFill>
                  <a:srgbClr val="4A4A4A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random_state=42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2697480" y="3255264"/>
            <a:ext cx="1554480" cy="18288"/>
          </a:xfrm>
          <a:prstGeom prst="rect">
            <a:avLst/>
          </a:prstGeom>
          <a:solidFill>
            <a:srgbClr val="E8E8E8"/>
          </a:solidFill>
          <a:ln w="12700">
            <a:solidFill>
              <a:srgbClr val="E8E8E8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2624328" y="3346704"/>
            <a:ext cx="1700784" cy="118872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50" dirty="0">
                <a:solidFill>
                  <a:srgbClr val="4A4A4A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Recursive feature-threshold splits. Highly interpretable; depth limited to prevent overfitting.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4617720" y="1261872"/>
            <a:ext cx="1920240" cy="3383280"/>
          </a:xfrm>
          <a:prstGeom prst="rect">
            <a:avLst/>
          </a:prstGeom>
          <a:solidFill>
            <a:srgbClr val="F5F5F5"/>
          </a:solidFill>
          <a:ln w="12700">
            <a:solidFill>
              <a:srgbClr val="E8E8E8"/>
            </a:solidFill>
            <a:prstDash val="solid"/>
          </a:ln>
          <a:effectLst>
            <a:outerShdw blurRad="101600" dist="38100" dir="2700000" algn="bl" rotWithShape="0">
              <a:srgbClr val="000000">
                <a:alpha val="14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4709160" y="1389888"/>
            <a:ext cx="1737360" cy="2377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kern="0" spc="200" dirty="0">
                <a:solidFill>
                  <a:srgbClr val="4A4A4A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ENSEMBLE</a:t>
            </a:r>
            <a:endParaRPr lang="en-US" sz="750" dirty="0"/>
          </a:p>
        </p:txBody>
      </p:sp>
      <p:sp>
        <p:nvSpPr>
          <p:cNvPr id="26" name="Text 24"/>
          <p:cNvSpPr/>
          <p:nvPr/>
        </p:nvSpPr>
        <p:spPr>
          <a:xfrm>
            <a:off x="4709160" y="1664208"/>
            <a:ext cx="1737360" cy="6583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0D0D0D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Random</a:t>
            </a:r>
            <a:endParaRPr lang="en-US" sz="1700" dirty="0"/>
          </a:p>
          <a:p>
            <a:pPr marL="0" indent="0" algn="ctr">
              <a:buNone/>
            </a:pPr>
            <a:r>
              <a:rPr lang="en-US" sz="1700" b="1" dirty="0">
                <a:solidFill>
                  <a:srgbClr val="0D0D0D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Forest</a:t>
            </a:r>
            <a:endParaRPr lang="en-US" sz="1700" dirty="0"/>
          </a:p>
        </p:txBody>
      </p:sp>
      <p:sp>
        <p:nvSpPr>
          <p:cNvPr id="27" name="Shape 25"/>
          <p:cNvSpPr/>
          <p:nvPr/>
        </p:nvSpPr>
        <p:spPr>
          <a:xfrm>
            <a:off x="4800600" y="2395728"/>
            <a:ext cx="1554480" cy="18288"/>
          </a:xfrm>
          <a:prstGeom prst="rect">
            <a:avLst/>
          </a:prstGeom>
          <a:solidFill>
            <a:srgbClr val="E8E8E8"/>
          </a:solidFill>
          <a:ln w="12700">
            <a:solidFill>
              <a:srgbClr val="E8E8E8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727448" y="2487168"/>
            <a:ext cx="1700784" cy="21945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b="1" dirty="0">
                <a:solidFill>
                  <a:srgbClr val="4A4A4A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Parameters:</a:t>
            </a:r>
            <a:endParaRPr lang="en-US" sz="850" dirty="0"/>
          </a:p>
        </p:txBody>
      </p:sp>
      <p:sp>
        <p:nvSpPr>
          <p:cNvPr id="29" name="Text 27"/>
          <p:cNvSpPr/>
          <p:nvPr/>
        </p:nvSpPr>
        <p:spPr>
          <a:xfrm>
            <a:off x="4727448" y="2724912"/>
            <a:ext cx="1700784" cy="47548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i="1" dirty="0">
                <a:solidFill>
                  <a:srgbClr val="4A4A4A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n_estimators=150</a:t>
            </a:r>
            <a:endParaRPr lang="en-US" sz="950" dirty="0"/>
          </a:p>
          <a:p>
            <a:pPr marL="0" indent="0" algn="l">
              <a:buNone/>
            </a:pPr>
            <a:r>
              <a:rPr lang="en-US" sz="950" i="1" dirty="0">
                <a:solidFill>
                  <a:srgbClr val="4A4A4A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max_depth=8</a:t>
            </a:r>
            <a:endParaRPr lang="en-US" sz="950" dirty="0"/>
          </a:p>
        </p:txBody>
      </p:sp>
      <p:sp>
        <p:nvSpPr>
          <p:cNvPr id="30" name="Shape 28"/>
          <p:cNvSpPr/>
          <p:nvPr/>
        </p:nvSpPr>
        <p:spPr>
          <a:xfrm>
            <a:off x="4800600" y="3255264"/>
            <a:ext cx="1554480" cy="18288"/>
          </a:xfrm>
          <a:prstGeom prst="rect">
            <a:avLst/>
          </a:prstGeom>
          <a:solidFill>
            <a:srgbClr val="E8E8E8"/>
          </a:solidFill>
          <a:ln w="12700">
            <a:solidFill>
              <a:srgbClr val="E8E8E8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727448" y="3346704"/>
            <a:ext cx="1700784" cy="118872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50" dirty="0">
                <a:solidFill>
                  <a:srgbClr val="4A4A4A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150 decision trees on bootstrapped subsets. Majority-vote aggregation reduces variance.</a:t>
            </a:r>
            <a:endParaRPr lang="en-US" sz="950" dirty="0"/>
          </a:p>
        </p:txBody>
      </p:sp>
      <p:sp>
        <p:nvSpPr>
          <p:cNvPr id="32" name="Shape 30"/>
          <p:cNvSpPr/>
          <p:nvPr/>
        </p:nvSpPr>
        <p:spPr>
          <a:xfrm>
            <a:off x="6720840" y="1261872"/>
            <a:ext cx="1920240" cy="3383280"/>
          </a:xfrm>
          <a:prstGeom prst="rect">
            <a:avLst/>
          </a:prstGeom>
          <a:solidFill>
            <a:srgbClr val="0D0D0D"/>
          </a:solidFill>
          <a:ln w="12700">
            <a:solidFill>
              <a:srgbClr val="E8E8E8"/>
            </a:solidFill>
            <a:prstDash val="solid"/>
          </a:ln>
          <a:effectLst>
            <a:outerShdw blurRad="101600" dist="38100" dir="2700000" algn="bl" rotWithShape="0">
              <a:srgbClr val="000000">
                <a:alpha val="14000"/>
              </a:srgbClr>
            </a:outerShdw>
          </a:effectLst>
        </p:spPr>
      </p:sp>
      <p:sp>
        <p:nvSpPr>
          <p:cNvPr id="33" name="Text 31"/>
          <p:cNvSpPr/>
          <p:nvPr/>
        </p:nvSpPr>
        <p:spPr>
          <a:xfrm>
            <a:off x="6812280" y="1389888"/>
            <a:ext cx="1737360" cy="2377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kern="0" spc="200" dirty="0">
                <a:solidFill>
                  <a:srgbClr val="767676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BEST MODEL ★</a:t>
            </a:r>
            <a:endParaRPr lang="en-US" sz="750" dirty="0"/>
          </a:p>
        </p:txBody>
      </p:sp>
      <p:sp>
        <p:nvSpPr>
          <p:cNvPr id="34" name="Text 32"/>
          <p:cNvSpPr/>
          <p:nvPr/>
        </p:nvSpPr>
        <p:spPr>
          <a:xfrm>
            <a:off x="6812280" y="1664208"/>
            <a:ext cx="1737360" cy="6583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XGBoost</a:t>
            </a:r>
            <a:endParaRPr lang="en-US" sz="1700" dirty="0"/>
          </a:p>
        </p:txBody>
      </p:sp>
      <p:sp>
        <p:nvSpPr>
          <p:cNvPr id="35" name="Shape 33"/>
          <p:cNvSpPr/>
          <p:nvPr/>
        </p:nvSpPr>
        <p:spPr>
          <a:xfrm>
            <a:off x="6903720" y="2395728"/>
            <a:ext cx="1554480" cy="18288"/>
          </a:xfrm>
          <a:prstGeom prst="rect">
            <a:avLst/>
          </a:prstGeom>
          <a:solidFill>
            <a:srgbClr val="4A4A4A"/>
          </a:solidFill>
          <a:ln w="12700">
            <a:solidFill>
              <a:srgbClr val="4A4A4A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6830568" y="2487168"/>
            <a:ext cx="1700784" cy="21945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b="1" dirty="0">
                <a:solidFill>
                  <a:srgbClr val="E8E8E8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Parameters:</a:t>
            </a:r>
            <a:endParaRPr lang="en-US" sz="850" dirty="0"/>
          </a:p>
        </p:txBody>
      </p:sp>
      <p:sp>
        <p:nvSpPr>
          <p:cNvPr id="37" name="Text 35"/>
          <p:cNvSpPr/>
          <p:nvPr/>
        </p:nvSpPr>
        <p:spPr>
          <a:xfrm>
            <a:off x="6830568" y="2724912"/>
            <a:ext cx="1700784" cy="47548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i="1" dirty="0">
                <a:solidFill>
                  <a:srgbClr val="F5F5F5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n_estimators=150</a:t>
            </a:r>
            <a:endParaRPr lang="en-US" sz="950" dirty="0"/>
          </a:p>
          <a:p>
            <a:pPr marL="0" indent="0" algn="l">
              <a:buNone/>
            </a:pPr>
            <a:r>
              <a:rPr lang="en-US" sz="950" i="1" dirty="0">
                <a:solidFill>
                  <a:srgbClr val="F5F5F5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lr=0.1, depth=5</a:t>
            </a:r>
            <a:endParaRPr lang="en-US" sz="950" dirty="0"/>
          </a:p>
        </p:txBody>
      </p:sp>
      <p:sp>
        <p:nvSpPr>
          <p:cNvPr id="38" name="Shape 36"/>
          <p:cNvSpPr/>
          <p:nvPr/>
        </p:nvSpPr>
        <p:spPr>
          <a:xfrm>
            <a:off x="6903720" y="3255264"/>
            <a:ext cx="1554480" cy="18288"/>
          </a:xfrm>
          <a:prstGeom prst="rect">
            <a:avLst/>
          </a:prstGeom>
          <a:solidFill>
            <a:srgbClr val="4A4A4A"/>
          </a:solidFill>
          <a:ln w="12700">
            <a:solidFill>
              <a:srgbClr val="4A4A4A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6830568" y="3346704"/>
            <a:ext cx="1700784" cy="118872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50" dirty="0">
                <a:solidFill>
                  <a:srgbClr val="F5F5F5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Sequential gradient boosting. Each tree corrects predecessor errors. Top performer on all metrics.</a:t>
            </a:r>
            <a:endParaRPr lang="en-US" sz="950" dirty="0"/>
          </a:p>
        </p:txBody>
      </p:sp>
      <p:sp>
        <p:nvSpPr>
          <p:cNvPr id="40" name="Text 38"/>
          <p:cNvSpPr/>
          <p:nvPr/>
        </p:nvSpPr>
        <p:spPr>
          <a:xfrm>
            <a:off x="411480" y="4663440"/>
            <a:ext cx="8321040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i="1" dirty="0">
                <a:solidFill>
                  <a:srgbClr val="767676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Metrics evaluated:  Accuracy  ·  Precision  ·  Recall  ·  F1 Score  ·  ROC-AUC  ·  Confusion Matrix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01168"/>
            <a:ext cx="8321040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50" kern="0" spc="300" dirty="0">
                <a:solidFill>
                  <a:srgbClr val="767676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MODEL EVALUATION</a:t>
            </a:r>
            <a:endParaRPr lang="en-US" sz="750" dirty="0"/>
          </a:p>
        </p:txBody>
      </p:sp>
      <p:sp>
        <p:nvSpPr>
          <p:cNvPr id="3" name="Text 1"/>
          <p:cNvSpPr/>
          <p:nvPr/>
        </p:nvSpPr>
        <p:spPr>
          <a:xfrm>
            <a:off x="411480" y="438912"/>
            <a:ext cx="8321040" cy="6400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0D0D0D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Model Performance Results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411480" y="1115568"/>
            <a:ext cx="8321040" cy="18288"/>
          </a:xfrm>
          <a:prstGeom prst="rect">
            <a:avLst/>
          </a:prstGeom>
          <a:solidFill>
            <a:srgbClr val="0D0D0D"/>
          </a:solidFill>
          <a:ln w="12700">
            <a:solidFill>
              <a:srgbClr val="0D0D0D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11480" y="4828032"/>
            <a:ext cx="8321040" cy="18288"/>
          </a:xfrm>
          <a:prstGeom prst="rect">
            <a:avLst/>
          </a:prstGeom>
          <a:solidFill>
            <a:srgbClr val="E8E8E8"/>
          </a:solidFill>
          <a:ln w="12700">
            <a:solidFill>
              <a:srgbClr val="E8E8E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11480" y="4864608"/>
            <a:ext cx="6858000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endParaRPr lang="en-US" sz="700" dirty="0"/>
          </a:p>
        </p:txBody>
      </p:sp>
      <p:sp>
        <p:nvSpPr>
          <p:cNvPr id="7" name="Text 5"/>
          <p:cNvSpPr/>
          <p:nvPr/>
        </p:nvSpPr>
        <p:spPr>
          <a:xfrm>
            <a:off x="8321040" y="4864608"/>
            <a:ext cx="411480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00" dirty="0">
                <a:solidFill>
                  <a:srgbClr val="767676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8</a:t>
            </a:r>
            <a:endParaRPr lang="en-US" sz="700" dirty="0"/>
          </a:p>
        </p:txBody>
      </p:sp>
      <p:graphicFrame>
        <p:nvGraphicFramePr>
          <p:cNvPr id="8" name="Chart 0"/>
          <p:cNvGraphicFramePr/>
          <p:nvPr/>
        </p:nvGraphicFramePr>
        <p:xfrm>
          <a:off x="411480" y="1234440"/>
          <a:ext cx="4114800" cy="288036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"/>
          </a:graphicData>
        </a:graphic>
      </p:graphicFrame>
      <p:sp>
        <p:nvSpPr>
          <p:cNvPr id="9" name="Shape 6"/>
          <p:cNvSpPr/>
          <p:nvPr/>
        </p:nvSpPr>
        <p:spPr>
          <a:xfrm>
            <a:off x="4663440" y="1234440"/>
            <a:ext cx="1828800" cy="347472"/>
          </a:xfrm>
          <a:prstGeom prst="rect">
            <a:avLst/>
          </a:prstGeom>
          <a:solidFill>
            <a:srgbClr val="0D0D0D"/>
          </a:solidFill>
          <a:ln w="12700">
            <a:solidFill>
              <a:srgbClr val="0D0D0D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4700016" y="1234440"/>
            <a:ext cx="1792224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Model</a:t>
            </a:r>
            <a:endParaRPr lang="en-US" sz="850" dirty="0"/>
          </a:p>
        </p:txBody>
      </p:sp>
      <p:sp>
        <p:nvSpPr>
          <p:cNvPr id="11" name="Shape 8"/>
          <p:cNvSpPr/>
          <p:nvPr/>
        </p:nvSpPr>
        <p:spPr>
          <a:xfrm>
            <a:off x="6492240" y="1234440"/>
            <a:ext cx="685800" cy="347472"/>
          </a:xfrm>
          <a:prstGeom prst="rect">
            <a:avLst/>
          </a:prstGeom>
          <a:solidFill>
            <a:srgbClr val="0D0D0D"/>
          </a:solidFill>
          <a:ln w="12700">
            <a:solidFill>
              <a:srgbClr val="0D0D0D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6528816" y="1234440"/>
            <a:ext cx="649224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Accuracy</a:t>
            </a:r>
            <a:endParaRPr lang="en-US" sz="850" dirty="0"/>
          </a:p>
        </p:txBody>
      </p:sp>
      <p:sp>
        <p:nvSpPr>
          <p:cNvPr id="13" name="Shape 10"/>
          <p:cNvSpPr/>
          <p:nvPr/>
        </p:nvSpPr>
        <p:spPr>
          <a:xfrm>
            <a:off x="7178040" y="1234440"/>
            <a:ext cx="685800" cy="347472"/>
          </a:xfrm>
          <a:prstGeom prst="rect">
            <a:avLst/>
          </a:prstGeom>
          <a:solidFill>
            <a:srgbClr val="0D0D0D"/>
          </a:solidFill>
          <a:ln w="12700">
            <a:solidFill>
              <a:srgbClr val="0D0D0D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7214616" y="1234440"/>
            <a:ext cx="649224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Precision</a:t>
            </a:r>
            <a:endParaRPr lang="en-US" sz="850" dirty="0"/>
          </a:p>
        </p:txBody>
      </p:sp>
      <p:sp>
        <p:nvSpPr>
          <p:cNvPr id="15" name="Shape 12"/>
          <p:cNvSpPr/>
          <p:nvPr/>
        </p:nvSpPr>
        <p:spPr>
          <a:xfrm>
            <a:off x="7863840" y="1234440"/>
            <a:ext cx="640080" cy="347472"/>
          </a:xfrm>
          <a:prstGeom prst="rect">
            <a:avLst/>
          </a:prstGeom>
          <a:solidFill>
            <a:srgbClr val="0D0D0D"/>
          </a:solidFill>
          <a:ln w="12700">
            <a:solidFill>
              <a:srgbClr val="0D0D0D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7900416" y="1234440"/>
            <a:ext cx="603504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Recall</a:t>
            </a:r>
            <a:endParaRPr lang="en-US" sz="850" dirty="0"/>
          </a:p>
        </p:txBody>
      </p:sp>
      <p:sp>
        <p:nvSpPr>
          <p:cNvPr id="17" name="Shape 14"/>
          <p:cNvSpPr/>
          <p:nvPr/>
        </p:nvSpPr>
        <p:spPr>
          <a:xfrm>
            <a:off x="8503920" y="1234440"/>
            <a:ext cx="685800" cy="347472"/>
          </a:xfrm>
          <a:prstGeom prst="rect">
            <a:avLst/>
          </a:prstGeom>
          <a:solidFill>
            <a:srgbClr val="0D0D0D"/>
          </a:solidFill>
          <a:ln w="12700">
            <a:solidFill>
              <a:srgbClr val="0D0D0D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8540496" y="1234440"/>
            <a:ext cx="649224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F1 Score</a:t>
            </a:r>
            <a:endParaRPr lang="en-US" sz="850" dirty="0"/>
          </a:p>
        </p:txBody>
      </p:sp>
      <p:sp>
        <p:nvSpPr>
          <p:cNvPr id="19" name="Shape 16"/>
          <p:cNvSpPr/>
          <p:nvPr/>
        </p:nvSpPr>
        <p:spPr>
          <a:xfrm>
            <a:off x="9189720" y="1234440"/>
            <a:ext cx="685800" cy="347472"/>
          </a:xfrm>
          <a:prstGeom prst="rect">
            <a:avLst/>
          </a:prstGeom>
          <a:solidFill>
            <a:srgbClr val="0D0D0D"/>
          </a:solidFill>
          <a:ln w="12700">
            <a:solidFill>
              <a:srgbClr val="0D0D0D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9226296" y="1234440"/>
            <a:ext cx="649224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ROC-AUC</a:t>
            </a:r>
            <a:endParaRPr lang="en-US" sz="850" dirty="0"/>
          </a:p>
        </p:txBody>
      </p:sp>
      <p:sp>
        <p:nvSpPr>
          <p:cNvPr id="21" name="Shape 18"/>
          <p:cNvSpPr/>
          <p:nvPr/>
        </p:nvSpPr>
        <p:spPr>
          <a:xfrm>
            <a:off x="4663440" y="1581912"/>
            <a:ext cx="1828800" cy="411480"/>
          </a:xfrm>
          <a:prstGeom prst="rect">
            <a:avLst/>
          </a:prstGeom>
          <a:solidFill>
            <a:srgbClr val="FFFFFF"/>
          </a:solidFill>
          <a:ln w="6350">
            <a:solidFill>
              <a:srgbClr val="E8E8E8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4700016" y="1581912"/>
            <a:ext cx="1792224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0D0D0D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Logistic Regression</a:t>
            </a:r>
            <a:endParaRPr lang="en-US" sz="1000" dirty="0"/>
          </a:p>
        </p:txBody>
      </p:sp>
      <p:sp>
        <p:nvSpPr>
          <p:cNvPr id="23" name="Shape 20"/>
          <p:cNvSpPr/>
          <p:nvPr/>
        </p:nvSpPr>
        <p:spPr>
          <a:xfrm>
            <a:off x="6492240" y="1581912"/>
            <a:ext cx="685800" cy="411480"/>
          </a:xfrm>
          <a:prstGeom prst="rect">
            <a:avLst/>
          </a:prstGeom>
          <a:solidFill>
            <a:srgbClr val="FFFFFF"/>
          </a:solidFill>
          <a:ln w="6350">
            <a:solidFill>
              <a:srgbClr val="E8E8E8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6528816" y="1581912"/>
            <a:ext cx="649224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4A4A4A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93.00%</a:t>
            </a:r>
            <a:endParaRPr lang="en-US" sz="1000" dirty="0"/>
          </a:p>
        </p:txBody>
      </p:sp>
      <p:sp>
        <p:nvSpPr>
          <p:cNvPr id="25" name="Shape 22"/>
          <p:cNvSpPr/>
          <p:nvPr/>
        </p:nvSpPr>
        <p:spPr>
          <a:xfrm>
            <a:off x="7178040" y="1581912"/>
            <a:ext cx="685800" cy="411480"/>
          </a:xfrm>
          <a:prstGeom prst="rect">
            <a:avLst/>
          </a:prstGeom>
          <a:solidFill>
            <a:srgbClr val="FFFFFF"/>
          </a:solidFill>
          <a:ln w="6350">
            <a:solidFill>
              <a:srgbClr val="E8E8E8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7214616" y="1581912"/>
            <a:ext cx="649224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4A4A4A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92.11%</a:t>
            </a:r>
            <a:endParaRPr lang="en-US" sz="1000" dirty="0"/>
          </a:p>
        </p:txBody>
      </p:sp>
      <p:sp>
        <p:nvSpPr>
          <p:cNvPr id="27" name="Shape 24"/>
          <p:cNvSpPr/>
          <p:nvPr/>
        </p:nvSpPr>
        <p:spPr>
          <a:xfrm>
            <a:off x="7863840" y="1581912"/>
            <a:ext cx="640080" cy="411480"/>
          </a:xfrm>
          <a:prstGeom prst="rect">
            <a:avLst/>
          </a:prstGeom>
          <a:solidFill>
            <a:srgbClr val="FFFFFF"/>
          </a:solidFill>
          <a:ln w="6350">
            <a:solidFill>
              <a:srgbClr val="E8E8E8"/>
            </a:solidFill>
            <a:prstDash val="solid"/>
          </a:ln>
        </p:spPr>
      </p:sp>
      <p:sp>
        <p:nvSpPr>
          <p:cNvPr id="28" name="Text 25"/>
          <p:cNvSpPr/>
          <p:nvPr/>
        </p:nvSpPr>
        <p:spPr>
          <a:xfrm>
            <a:off x="7900416" y="1581912"/>
            <a:ext cx="603504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4A4A4A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89.74%</a:t>
            </a:r>
            <a:endParaRPr lang="en-US" sz="1000" dirty="0"/>
          </a:p>
        </p:txBody>
      </p:sp>
      <p:sp>
        <p:nvSpPr>
          <p:cNvPr id="29" name="Shape 26"/>
          <p:cNvSpPr/>
          <p:nvPr/>
        </p:nvSpPr>
        <p:spPr>
          <a:xfrm>
            <a:off x="8503920" y="1581912"/>
            <a:ext cx="685800" cy="411480"/>
          </a:xfrm>
          <a:prstGeom prst="rect">
            <a:avLst/>
          </a:prstGeom>
          <a:solidFill>
            <a:srgbClr val="FFFFFF"/>
          </a:solidFill>
          <a:ln w="6350">
            <a:solidFill>
              <a:srgbClr val="E8E8E8"/>
            </a:solidFill>
            <a:prstDash val="solid"/>
          </a:ln>
        </p:spPr>
      </p:sp>
      <p:sp>
        <p:nvSpPr>
          <p:cNvPr id="30" name="Text 27"/>
          <p:cNvSpPr/>
          <p:nvPr/>
        </p:nvSpPr>
        <p:spPr>
          <a:xfrm>
            <a:off x="8540496" y="1581912"/>
            <a:ext cx="649224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4A4A4A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90.91%</a:t>
            </a:r>
            <a:endParaRPr lang="en-US" sz="1000" dirty="0"/>
          </a:p>
        </p:txBody>
      </p:sp>
      <p:sp>
        <p:nvSpPr>
          <p:cNvPr id="31" name="Shape 28"/>
          <p:cNvSpPr/>
          <p:nvPr/>
        </p:nvSpPr>
        <p:spPr>
          <a:xfrm>
            <a:off x="9189720" y="1581912"/>
            <a:ext cx="685800" cy="411480"/>
          </a:xfrm>
          <a:prstGeom prst="rect">
            <a:avLst/>
          </a:prstGeom>
          <a:solidFill>
            <a:srgbClr val="FFFFFF"/>
          </a:solidFill>
          <a:ln w="6350">
            <a:solidFill>
              <a:srgbClr val="E8E8E8"/>
            </a:solidFill>
            <a:prstDash val="solid"/>
          </a:ln>
        </p:spPr>
      </p:sp>
      <p:sp>
        <p:nvSpPr>
          <p:cNvPr id="32" name="Text 29"/>
          <p:cNvSpPr/>
          <p:nvPr/>
        </p:nvSpPr>
        <p:spPr>
          <a:xfrm>
            <a:off x="9226296" y="1581912"/>
            <a:ext cx="649224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4A4A4A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0.9791</a:t>
            </a:r>
            <a:endParaRPr lang="en-US" sz="1000" dirty="0"/>
          </a:p>
        </p:txBody>
      </p:sp>
      <p:sp>
        <p:nvSpPr>
          <p:cNvPr id="33" name="Shape 30"/>
          <p:cNvSpPr/>
          <p:nvPr/>
        </p:nvSpPr>
        <p:spPr>
          <a:xfrm>
            <a:off x="4663440" y="1993392"/>
            <a:ext cx="1828800" cy="411480"/>
          </a:xfrm>
          <a:prstGeom prst="rect">
            <a:avLst/>
          </a:prstGeom>
          <a:solidFill>
            <a:srgbClr val="F5F5F5"/>
          </a:solidFill>
          <a:ln w="6350">
            <a:solidFill>
              <a:srgbClr val="E8E8E8"/>
            </a:solidFill>
            <a:prstDash val="solid"/>
          </a:ln>
        </p:spPr>
      </p:sp>
      <p:sp>
        <p:nvSpPr>
          <p:cNvPr id="34" name="Text 31"/>
          <p:cNvSpPr/>
          <p:nvPr/>
        </p:nvSpPr>
        <p:spPr>
          <a:xfrm>
            <a:off x="4700016" y="1993392"/>
            <a:ext cx="1792224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0D0D0D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Decision Tree</a:t>
            </a:r>
            <a:endParaRPr lang="en-US" sz="1000" dirty="0"/>
          </a:p>
        </p:txBody>
      </p:sp>
      <p:sp>
        <p:nvSpPr>
          <p:cNvPr id="35" name="Shape 32"/>
          <p:cNvSpPr/>
          <p:nvPr/>
        </p:nvSpPr>
        <p:spPr>
          <a:xfrm>
            <a:off x="6492240" y="1993392"/>
            <a:ext cx="685800" cy="411480"/>
          </a:xfrm>
          <a:prstGeom prst="rect">
            <a:avLst/>
          </a:prstGeom>
          <a:solidFill>
            <a:srgbClr val="F5F5F5"/>
          </a:solidFill>
          <a:ln w="6350">
            <a:solidFill>
              <a:srgbClr val="E8E8E8"/>
            </a:solidFill>
            <a:prstDash val="solid"/>
          </a:ln>
        </p:spPr>
      </p:sp>
      <p:sp>
        <p:nvSpPr>
          <p:cNvPr id="36" name="Text 33"/>
          <p:cNvSpPr/>
          <p:nvPr/>
        </p:nvSpPr>
        <p:spPr>
          <a:xfrm>
            <a:off x="6528816" y="1993392"/>
            <a:ext cx="649224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4A4A4A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99.00%</a:t>
            </a:r>
            <a:endParaRPr lang="en-US" sz="1000" dirty="0"/>
          </a:p>
        </p:txBody>
      </p:sp>
      <p:sp>
        <p:nvSpPr>
          <p:cNvPr id="37" name="Shape 34"/>
          <p:cNvSpPr/>
          <p:nvPr/>
        </p:nvSpPr>
        <p:spPr>
          <a:xfrm>
            <a:off x="7178040" y="1993392"/>
            <a:ext cx="685800" cy="411480"/>
          </a:xfrm>
          <a:prstGeom prst="rect">
            <a:avLst/>
          </a:prstGeom>
          <a:solidFill>
            <a:srgbClr val="F5F5F5"/>
          </a:solidFill>
          <a:ln w="6350">
            <a:solidFill>
              <a:srgbClr val="E8E8E8"/>
            </a:solidFill>
            <a:prstDash val="solid"/>
          </a:ln>
        </p:spPr>
      </p:sp>
      <p:sp>
        <p:nvSpPr>
          <p:cNvPr id="38" name="Text 35"/>
          <p:cNvSpPr/>
          <p:nvPr/>
        </p:nvSpPr>
        <p:spPr>
          <a:xfrm>
            <a:off x="7214616" y="1993392"/>
            <a:ext cx="649224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4A4A4A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98.72%</a:t>
            </a:r>
            <a:endParaRPr lang="en-US" sz="1000" dirty="0"/>
          </a:p>
        </p:txBody>
      </p:sp>
      <p:sp>
        <p:nvSpPr>
          <p:cNvPr id="39" name="Shape 36"/>
          <p:cNvSpPr/>
          <p:nvPr/>
        </p:nvSpPr>
        <p:spPr>
          <a:xfrm>
            <a:off x="7863840" y="1993392"/>
            <a:ext cx="640080" cy="411480"/>
          </a:xfrm>
          <a:prstGeom prst="rect">
            <a:avLst/>
          </a:prstGeom>
          <a:solidFill>
            <a:srgbClr val="F5F5F5"/>
          </a:solidFill>
          <a:ln w="6350">
            <a:solidFill>
              <a:srgbClr val="E8E8E8"/>
            </a:solidFill>
            <a:prstDash val="solid"/>
          </a:ln>
        </p:spPr>
      </p:sp>
      <p:sp>
        <p:nvSpPr>
          <p:cNvPr id="40" name="Text 37"/>
          <p:cNvSpPr/>
          <p:nvPr/>
        </p:nvSpPr>
        <p:spPr>
          <a:xfrm>
            <a:off x="7900416" y="1993392"/>
            <a:ext cx="603504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4A4A4A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98.72%</a:t>
            </a:r>
            <a:endParaRPr lang="en-US" sz="1000" dirty="0"/>
          </a:p>
        </p:txBody>
      </p:sp>
      <p:sp>
        <p:nvSpPr>
          <p:cNvPr id="41" name="Shape 38"/>
          <p:cNvSpPr/>
          <p:nvPr/>
        </p:nvSpPr>
        <p:spPr>
          <a:xfrm>
            <a:off x="8503920" y="1993392"/>
            <a:ext cx="685800" cy="411480"/>
          </a:xfrm>
          <a:prstGeom prst="rect">
            <a:avLst/>
          </a:prstGeom>
          <a:solidFill>
            <a:srgbClr val="F5F5F5"/>
          </a:solidFill>
          <a:ln w="6350">
            <a:solidFill>
              <a:srgbClr val="E8E8E8"/>
            </a:solidFill>
            <a:prstDash val="solid"/>
          </a:ln>
        </p:spPr>
      </p:sp>
      <p:sp>
        <p:nvSpPr>
          <p:cNvPr id="42" name="Text 39"/>
          <p:cNvSpPr/>
          <p:nvPr/>
        </p:nvSpPr>
        <p:spPr>
          <a:xfrm>
            <a:off x="8540496" y="1993392"/>
            <a:ext cx="649224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4A4A4A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98.72%</a:t>
            </a:r>
            <a:endParaRPr lang="en-US" sz="1000" dirty="0"/>
          </a:p>
        </p:txBody>
      </p:sp>
      <p:sp>
        <p:nvSpPr>
          <p:cNvPr id="43" name="Shape 40"/>
          <p:cNvSpPr/>
          <p:nvPr/>
        </p:nvSpPr>
        <p:spPr>
          <a:xfrm>
            <a:off x="9189720" y="1993392"/>
            <a:ext cx="685800" cy="411480"/>
          </a:xfrm>
          <a:prstGeom prst="rect">
            <a:avLst/>
          </a:prstGeom>
          <a:solidFill>
            <a:srgbClr val="F5F5F5"/>
          </a:solidFill>
          <a:ln w="6350">
            <a:solidFill>
              <a:srgbClr val="E8E8E8"/>
            </a:solidFill>
            <a:prstDash val="solid"/>
          </a:ln>
        </p:spPr>
      </p:sp>
      <p:sp>
        <p:nvSpPr>
          <p:cNvPr id="44" name="Text 41"/>
          <p:cNvSpPr/>
          <p:nvPr/>
        </p:nvSpPr>
        <p:spPr>
          <a:xfrm>
            <a:off x="9226296" y="1993392"/>
            <a:ext cx="649224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4A4A4A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0.9895</a:t>
            </a:r>
            <a:endParaRPr lang="en-US" sz="1000" dirty="0"/>
          </a:p>
        </p:txBody>
      </p:sp>
      <p:sp>
        <p:nvSpPr>
          <p:cNvPr id="45" name="Shape 42"/>
          <p:cNvSpPr/>
          <p:nvPr/>
        </p:nvSpPr>
        <p:spPr>
          <a:xfrm>
            <a:off x="4663440" y="2404872"/>
            <a:ext cx="1828800" cy="411480"/>
          </a:xfrm>
          <a:prstGeom prst="rect">
            <a:avLst/>
          </a:prstGeom>
          <a:solidFill>
            <a:srgbClr val="FFFFFF"/>
          </a:solidFill>
          <a:ln w="6350">
            <a:solidFill>
              <a:srgbClr val="E8E8E8"/>
            </a:solidFill>
            <a:prstDash val="solid"/>
          </a:ln>
        </p:spPr>
      </p:sp>
      <p:sp>
        <p:nvSpPr>
          <p:cNvPr id="46" name="Text 43"/>
          <p:cNvSpPr/>
          <p:nvPr/>
        </p:nvSpPr>
        <p:spPr>
          <a:xfrm>
            <a:off x="4700016" y="2404872"/>
            <a:ext cx="1792224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0D0D0D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Random Forest</a:t>
            </a:r>
            <a:endParaRPr lang="en-US" sz="1000" dirty="0"/>
          </a:p>
        </p:txBody>
      </p:sp>
      <p:sp>
        <p:nvSpPr>
          <p:cNvPr id="47" name="Shape 44"/>
          <p:cNvSpPr/>
          <p:nvPr/>
        </p:nvSpPr>
        <p:spPr>
          <a:xfrm>
            <a:off x="6492240" y="2404872"/>
            <a:ext cx="685800" cy="411480"/>
          </a:xfrm>
          <a:prstGeom prst="rect">
            <a:avLst/>
          </a:prstGeom>
          <a:solidFill>
            <a:srgbClr val="FFFFFF"/>
          </a:solidFill>
          <a:ln w="6350">
            <a:solidFill>
              <a:srgbClr val="E8E8E8"/>
            </a:solidFill>
            <a:prstDash val="solid"/>
          </a:ln>
        </p:spPr>
      </p:sp>
      <p:sp>
        <p:nvSpPr>
          <p:cNvPr id="48" name="Text 45"/>
          <p:cNvSpPr/>
          <p:nvPr/>
        </p:nvSpPr>
        <p:spPr>
          <a:xfrm>
            <a:off x="6528816" y="2404872"/>
            <a:ext cx="649224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4A4A4A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99.50%</a:t>
            </a:r>
            <a:endParaRPr lang="en-US" sz="1000" dirty="0"/>
          </a:p>
        </p:txBody>
      </p:sp>
      <p:sp>
        <p:nvSpPr>
          <p:cNvPr id="49" name="Shape 46"/>
          <p:cNvSpPr/>
          <p:nvPr/>
        </p:nvSpPr>
        <p:spPr>
          <a:xfrm>
            <a:off x="7178040" y="2404872"/>
            <a:ext cx="685800" cy="411480"/>
          </a:xfrm>
          <a:prstGeom prst="rect">
            <a:avLst/>
          </a:prstGeom>
          <a:solidFill>
            <a:srgbClr val="FFFFFF"/>
          </a:solidFill>
          <a:ln w="6350">
            <a:solidFill>
              <a:srgbClr val="E8E8E8"/>
            </a:solidFill>
            <a:prstDash val="solid"/>
          </a:ln>
        </p:spPr>
      </p:sp>
      <p:sp>
        <p:nvSpPr>
          <p:cNvPr id="50" name="Text 47"/>
          <p:cNvSpPr/>
          <p:nvPr/>
        </p:nvSpPr>
        <p:spPr>
          <a:xfrm>
            <a:off x="7214616" y="2404872"/>
            <a:ext cx="649224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4A4A4A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100.00%</a:t>
            </a:r>
            <a:endParaRPr lang="en-US" sz="1000" dirty="0"/>
          </a:p>
        </p:txBody>
      </p:sp>
      <p:sp>
        <p:nvSpPr>
          <p:cNvPr id="51" name="Shape 48"/>
          <p:cNvSpPr/>
          <p:nvPr/>
        </p:nvSpPr>
        <p:spPr>
          <a:xfrm>
            <a:off x="7863840" y="2404872"/>
            <a:ext cx="640080" cy="411480"/>
          </a:xfrm>
          <a:prstGeom prst="rect">
            <a:avLst/>
          </a:prstGeom>
          <a:solidFill>
            <a:srgbClr val="FFFFFF"/>
          </a:solidFill>
          <a:ln w="6350">
            <a:solidFill>
              <a:srgbClr val="E8E8E8"/>
            </a:solidFill>
            <a:prstDash val="solid"/>
          </a:ln>
        </p:spPr>
      </p:sp>
      <p:sp>
        <p:nvSpPr>
          <p:cNvPr id="52" name="Text 49"/>
          <p:cNvSpPr/>
          <p:nvPr/>
        </p:nvSpPr>
        <p:spPr>
          <a:xfrm>
            <a:off x="7900416" y="2404872"/>
            <a:ext cx="603504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4A4A4A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98.72%</a:t>
            </a:r>
            <a:endParaRPr lang="en-US" sz="1000" dirty="0"/>
          </a:p>
        </p:txBody>
      </p:sp>
      <p:sp>
        <p:nvSpPr>
          <p:cNvPr id="53" name="Shape 50"/>
          <p:cNvSpPr/>
          <p:nvPr/>
        </p:nvSpPr>
        <p:spPr>
          <a:xfrm>
            <a:off x="8503920" y="2404872"/>
            <a:ext cx="685800" cy="411480"/>
          </a:xfrm>
          <a:prstGeom prst="rect">
            <a:avLst/>
          </a:prstGeom>
          <a:solidFill>
            <a:srgbClr val="FFFFFF"/>
          </a:solidFill>
          <a:ln w="6350">
            <a:solidFill>
              <a:srgbClr val="E8E8E8"/>
            </a:solidFill>
            <a:prstDash val="solid"/>
          </a:ln>
        </p:spPr>
      </p:sp>
      <p:sp>
        <p:nvSpPr>
          <p:cNvPr id="54" name="Text 51"/>
          <p:cNvSpPr/>
          <p:nvPr/>
        </p:nvSpPr>
        <p:spPr>
          <a:xfrm>
            <a:off x="8540496" y="2404872"/>
            <a:ext cx="649224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4A4A4A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99.35%</a:t>
            </a:r>
            <a:endParaRPr lang="en-US" sz="1000" dirty="0"/>
          </a:p>
        </p:txBody>
      </p:sp>
      <p:sp>
        <p:nvSpPr>
          <p:cNvPr id="55" name="Shape 52"/>
          <p:cNvSpPr/>
          <p:nvPr/>
        </p:nvSpPr>
        <p:spPr>
          <a:xfrm>
            <a:off x="9189720" y="2404872"/>
            <a:ext cx="685800" cy="411480"/>
          </a:xfrm>
          <a:prstGeom prst="rect">
            <a:avLst/>
          </a:prstGeom>
          <a:solidFill>
            <a:srgbClr val="FFFFFF"/>
          </a:solidFill>
          <a:ln w="6350">
            <a:solidFill>
              <a:srgbClr val="E8E8E8"/>
            </a:solidFill>
            <a:prstDash val="solid"/>
          </a:ln>
        </p:spPr>
      </p:sp>
      <p:sp>
        <p:nvSpPr>
          <p:cNvPr id="56" name="Text 53"/>
          <p:cNvSpPr/>
          <p:nvPr/>
        </p:nvSpPr>
        <p:spPr>
          <a:xfrm>
            <a:off x="9226296" y="2404872"/>
            <a:ext cx="649224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4A4A4A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0.9999</a:t>
            </a:r>
            <a:endParaRPr lang="en-US" sz="1000" dirty="0"/>
          </a:p>
        </p:txBody>
      </p:sp>
      <p:sp>
        <p:nvSpPr>
          <p:cNvPr id="57" name="Shape 54"/>
          <p:cNvSpPr/>
          <p:nvPr/>
        </p:nvSpPr>
        <p:spPr>
          <a:xfrm>
            <a:off x="4663440" y="2816352"/>
            <a:ext cx="1828800" cy="411480"/>
          </a:xfrm>
          <a:prstGeom prst="rect">
            <a:avLst/>
          </a:prstGeom>
          <a:solidFill>
            <a:srgbClr val="1A1A1A"/>
          </a:solidFill>
          <a:ln w="6350">
            <a:solidFill>
              <a:srgbClr val="E8E8E8"/>
            </a:solidFill>
            <a:prstDash val="solid"/>
          </a:ln>
        </p:spPr>
      </p:sp>
      <p:sp>
        <p:nvSpPr>
          <p:cNvPr id="58" name="Text 55"/>
          <p:cNvSpPr/>
          <p:nvPr/>
        </p:nvSpPr>
        <p:spPr>
          <a:xfrm>
            <a:off x="4700016" y="2816352"/>
            <a:ext cx="1792224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XGBoost ★</a:t>
            </a:r>
            <a:endParaRPr lang="en-US" sz="1000" dirty="0"/>
          </a:p>
        </p:txBody>
      </p:sp>
      <p:sp>
        <p:nvSpPr>
          <p:cNvPr id="59" name="Shape 56"/>
          <p:cNvSpPr/>
          <p:nvPr/>
        </p:nvSpPr>
        <p:spPr>
          <a:xfrm>
            <a:off x="6492240" y="2816352"/>
            <a:ext cx="685800" cy="411480"/>
          </a:xfrm>
          <a:prstGeom prst="rect">
            <a:avLst/>
          </a:prstGeom>
          <a:solidFill>
            <a:srgbClr val="1A1A1A"/>
          </a:solidFill>
          <a:ln w="6350">
            <a:solidFill>
              <a:srgbClr val="E8E8E8"/>
            </a:solidFill>
            <a:prstDash val="solid"/>
          </a:ln>
        </p:spPr>
      </p:sp>
      <p:sp>
        <p:nvSpPr>
          <p:cNvPr id="60" name="Text 57"/>
          <p:cNvSpPr/>
          <p:nvPr/>
        </p:nvSpPr>
        <p:spPr>
          <a:xfrm>
            <a:off x="6528816" y="2816352"/>
            <a:ext cx="649224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100.00%</a:t>
            </a:r>
            <a:endParaRPr lang="en-US" sz="1000" dirty="0"/>
          </a:p>
        </p:txBody>
      </p:sp>
      <p:sp>
        <p:nvSpPr>
          <p:cNvPr id="61" name="Shape 58"/>
          <p:cNvSpPr/>
          <p:nvPr/>
        </p:nvSpPr>
        <p:spPr>
          <a:xfrm>
            <a:off x="7178040" y="2816352"/>
            <a:ext cx="685800" cy="411480"/>
          </a:xfrm>
          <a:prstGeom prst="rect">
            <a:avLst/>
          </a:prstGeom>
          <a:solidFill>
            <a:srgbClr val="1A1A1A"/>
          </a:solidFill>
          <a:ln w="6350">
            <a:solidFill>
              <a:srgbClr val="E8E8E8"/>
            </a:solidFill>
            <a:prstDash val="solid"/>
          </a:ln>
        </p:spPr>
      </p:sp>
      <p:sp>
        <p:nvSpPr>
          <p:cNvPr id="62" name="Text 59"/>
          <p:cNvSpPr/>
          <p:nvPr/>
        </p:nvSpPr>
        <p:spPr>
          <a:xfrm>
            <a:off x="7214616" y="2816352"/>
            <a:ext cx="649224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100.00%</a:t>
            </a:r>
            <a:endParaRPr lang="en-US" sz="1000" dirty="0"/>
          </a:p>
        </p:txBody>
      </p:sp>
      <p:sp>
        <p:nvSpPr>
          <p:cNvPr id="63" name="Shape 60"/>
          <p:cNvSpPr/>
          <p:nvPr/>
        </p:nvSpPr>
        <p:spPr>
          <a:xfrm>
            <a:off x="7863840" y="2816352"/>
            <a:ext cx="640080" cy="411480"/>
          </a:xfrm>
          <a:prstGeom prst="rect">
            <a:avLst/>
          </a:prstGeom>
          <a:solidFill>
            <a:srgbClr val="1A1A1A"/>
          </a:solidFill>
          <a:ln w="6350">
            <a:solidFill>
              <a:srgbClr val="E8E8E8"/>
            </a:solidFill>
            <a:prstDash val="solid"/>
          </a:ln>
        </p:spPr>
      </p:sp>
      <p:sp>
        <p:nvSpPr>
          <p:cNvPr id="64" name="Text 61"/>
          <p:cNvSpPr/>
          <p:nvPr/>
        </p:nvSpPr>
        <p:spPr>
          <a:xfrm>
            <a:off x="7900416" y="2816352"/>
            <a:ext cx="603504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100.00%</a:t>
            </a:r>
            <a:endParaRPr lang="en-US" sz="1000" dirty="0"/>
          </a:p>
        </p:txBody>
      </p:sp>
      <p:sp>
        <p:nvSpPr>
          <p:cNvPr id="65" name="Shape 62"/>
          <p:cNvSpPr/>
          <p:nvPr/>
        </p:nvSpPr>
        <p:spPr>
          <a:xfrm>
            <a:off x="8503920" y="2816352"/>
            <a:ext cx="685800" cy="411480"/>
          </a:xfrm>
          <a:prstGeom prst="rect">
            <a:avLst/>
          </a:prstGeom>
          <a:solidFill>
            <a:srgbClr val="1A1A1A"/>
          </a:solidFill>
          <a:ln w="6350">
            <a:solidFill>
              <a:srgbClr val="E8E8E8"/>
            </a:solidFill>
            <a:prstDash val="solid"/>
          </a:ln>
        </p:spPr>
      </p:sp>
      <p:sp>
        <p:nvSpPr>
          <p:cNvPr id="66" name="Text 63"/>
          <p:cNvSpPr/>
          <p:nvPr/>
        </p:nvSpPr>
        <p:spPr>
          <a:xfrm>
            <a:off x="8540496" y="2816352"/>
            <a:ext cx="649224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100.00%</a:t>
            </a:r>
            <a:endParaRPr lang="en-US" sz="1000" dirty="0"/>
          </a:p>
        </p:txBody>
      </p:sp>
      <p:sp>
        <p:nvSpPr>
          <p:cNvPr id="67" name="Shape 64"/>
          <p:cNvSpPr/>
          <p:nvPr/>
        </p:nvSpPr>
        <p:spPr>
          <a:xfrm>
            <a:off x="9189720" y="2816352"/>
            <a:ext cx="685800" cy="411480"/>
          </a:xfrm>
          <a:prstGeom prst="rect">
            <a:avLst/>
          </a:prstGeom>
          <a:solidFill>
            <a:srgbClr val="1A1A1A"/>
          </a:solidFill>
          <a:ln w="6350">
            <a:solidFill>
              <a:srgbClr val="E8E8E8"/>
            </a:solidFill>
            <a:prstDash val="solid"/>
          </a:ln>
        </p:spPr>
      </p:sp>
      <p:sp>
        <p:nvSpPr>
          <p:cNvPr id="68" name="Text 65"/>
          <p:cNvSpPr/>
          <p:nvPr/>
        </p:nvSpPr>
        <p:spPr>
          <a:xfrm>
            <a:off x="9226296" y="2816352"/>
            <a:ext cx="649224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1.0000</a:t>
            </a:r>
            <a:endParaRPr lang="en-US" sz="1000" dirty="0"/>
          </a:p>
        </p:txBody>
      </p:sp>
      <p:sp>
        <p:nvSpPr>
          <p:cNvPr id="69" name="Text 66"/>
          <p:cNvSpPr/>
          <p:nvPr/>
        </p:nvSpPr>
        <p:spPr>
          <a:xfrm>
            <a:off x="4663440" y="3310128"/>
            <a:ext cx="406908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i="1" dirty="0">
                <a:solidFill>
                  <a:srgbClr val="4A4A4A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★  XGBoost achieved perfect scores across all five metrics and was selected as the final deployment model.</a:t>
            </a:r>
            <a:endParaRPr lang="en-US" sz="900" dirty="0"/>
          </a:p>
        </p:txBody>
      </p:sp>
      <p:graphicFrame>
        <p:nvGraphicFramePr>
          <p:cNvPr id="70" name="Chart 1"/>
          <p:cNvGraphicFramePr/>
          <p:nvPr/>
        </p:nvGraphicFramePr>
        <p:xfrm>
          <a:off x="4663440" y="3749040"/>
          <a:ext cx="4069080" cy="9144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01168"/>
            <a:ext cx="8321040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50" kern="0" spc="300" dirty="0">
                <a:solidFill>
                  <a:srgbClr val="767676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RESULTS &amp; DEPLOYMENT</a:t>
            </a:r>
            <a:endParaRPr lang="en-US" sz="750" dirty="0"/>
          </a:p>
        </p:txBody>
      </p:sp>
      <p:sp>
        <p:nvSpPr>
          <p:cNvPr id="3" name="Text 1"/>
          <p:cNvSpPr/>
          <p:nvPr/>
        </p:nvSpPr>
        <p:spPr>
          <a:xfrm>
            <a:off x="411480" y="438912"/>
            <a:ext cx="8321040" cy="6400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0D0D0D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Risk Classification &amp; Deployment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411480" y="1115568"/>
            <a:ext cx="8321040" cy="18288"/>
          </a:xfrm>
          <a:prstGeom prst="rect">
            <a:avLst/>
          </a:prstGeom>
          <a:solidFill>
            <a:srgbClr val="0D0D0D"/>
          </a:solidFill>
          <a:ln w="12700">
            <a:solidFill>
              <a:srgbClr val="0D0D0D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11480" y="4828032"/>
            <a:ext cx="8321040" cy="18288"/>
          </a:xfrm>
          <a:prstGeom prst="rect">
            <a:avLst/>
          </a:prstGeom>
          <a:solidFill>
            <a:srgbClr val="E8E8E8"/>
          </a:solidFill>
          <a:ln w="12700">
            <a:solidFill>
              <a:srgbClr val="E8E8E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11480" y="4864608"/>
            <a:ext cx="6858000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endParaRPr lang="en-US" sz="700" dirty="0"/>
          </a:p>
        </p:txBody>
      </p:sp>
      <p:sp>
        <p:nvSpPr>
          <p:cNvPr id="7" name="Text 5"/>
          <p:cNvSpPr/>
          <p:nvPr/>
        </p:nvSpPr>
        <p:spPr>
          <a:xfrm>
            <a:off x="8321040" y="4864608"/>
            <a:ext cx="411480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00" dirty="0">
                <a:solidFill>
                  <a:srgbClr val="767676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9</a:t>
            </a:r>
            <a:endParaRPr lang="en-US" sz="700" dirty="0"/>
          </a:p>
        </p:txBody>
      </p:sp>
      <p:sp>
        <p:nvSpPr>
          <p:cNvPr id="8" name="Shape 6"/>
          <p:cNvSpPr/>
          <p:nvPr/>
        </p:nvSpPr>
        <p:spPr>
          <a:xfrm>
            <a:off x="411480" y="1261872"/>
            <a:ext cx="4572000" cy="804672"/>
          </a:xfrm>
          <a:prstGeom prst="rect">
            <a:avLst/>
          </a:prstGeom>
          <a:solidFill>
            <a:srgbClr val="0D0D0D"/>
          </a:solidFill>
          <a:ln w="12700">
            <a:solidFill>
              <a:srgbClr val="E8E8E8"/>
            </a:solidFill>
            <a:prstDash val="solid"/>
          </a:ln>
          <a:effectLst>
            <a:outerShdw blurRad="101600" dist="38100" dir="2700000" algn="bl" rotWithShape="0">
              <a:srgbClr val="000000">
                <a:alpha val="14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566928" y="1353312"/>
            <a:ext cx="164592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kern="0" spc="150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HIGH RISK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566928" y="1664208"/>
            <a:ext cx="164592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i="1" dirty="0">
                <a:solidFill>
                  <a:srgbClr val="767676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&gt; 60% Probability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2286000" y="1444752"/>
            <a:ext cx="18288" cy="18288"/>
          </a:xfrm>
          <a:prstGeom prst="rect">
            <a:avLst/>
          </a:prstGeom>
          <a:solidFill>
            <a:srgbClr val="4A4A4A"/>
          </a:solidFill>
          <a:ln w="12700">
            <a:solidFill>
              <a:srgbClr val="4A4A4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377440" y="1353312"/>
            <a:ext cx="2423160" cy="6583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F5F5F5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Immediate outreach — personalised discounts, contract upgrades, priority support call.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411480" y="2157984"/>
            <a:ext cx="4572000" cy="804672"/>
          </a:xfrm>
          <a:prstGeom prst="rect">
            <a:avLst/>
          </a:prstGeom>
          <a:solidFill>
            <a:srgbClr val="1A1A1A"/>
          </a:solidFill>
          <a:ln w="12700">
            <a:solidFill>
              <a:srgbClr val="E8E8E8"/>
            </a:solidFill>
            <a:prstDash val="solid"/>
          </a:ln>
          <a:effectLst>
            <a:outerShdw blurRad="101600" dist="38100" dir="2700000" algn="bl" rotWithShape="0">
              <a:srgbClr val="000000">
                <a:alpha val="14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566928" y="2249424"/>
            <a:ext cx="164592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kern="0" spc="150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MEDIUM RISK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566928" y="2560320"/>
            <a:ext cx="164592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i="1" dirty="0">
                <a:solidFill>
                  <a:srgbClr val="767676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30% – 60% Probability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2286000" y="2340864"/>
            <a:ext cx="18288" cy="18288"/>
          </a:xfrm>
          <a:prstGeom prst="rect">
            <a:avLst/>
          </a:prstGeom>
          <a:solidFill>
            <a:srgbClr val="4A4A4A"/>
          </a:solidFill>
          <a:ln w="12700">
            <a:solidFill>
              <a:srgbClr val="4A4A4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2377440" y="2249424"/>
            <a:ext cx="2423160" cy="6583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F5F5F5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Proactive engagement — loyalty rewards, targeted offers, satisfaction surveys.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411480" y="3054096"/>
            <a:ext cx="4572000" cy="804672"/>
          </a:xfrm>
          <a:prstGeom prst="rect">
            <a:avLst/>
          </a:prstGeom>
          <a:solidFill>
            <a:srgbClr val="F5F5F5"/>
          </a:solidFill>
          <a:ln w="12700">
            <a:solidFill>
              <a:srgbClr val="E8E8E8"/>
            </a:solidFill>
            <a:prstDash val="solid"/>
          </a:ln>
          <a:effectLst>
            <a:outerShdw blurRad="101600" dist="38100" dir="2700000" algn="bl" rotWithShape="0">
              <a:srgbClr val="000000">
                <a:alpha val="14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566928" y="3145536"/>
            <a:ext cx="164592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kern="0" spc="150" dirty="0">
                <a:solidFill>
                  <a:srgbClr val="0D0D0D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LOW RISK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566928" y="3456432"/>
            <a:ext cx="164592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i="1" dirty="0">
                <a:solidFill>
                  <a:srgbClr val="4A4A4A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&lt; 30% Probability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2286000" y="3236976"/>
            <a:ext cx="18288" cy="18288"/>
          </a:xfrm>
          <a:prstGeom prst="rect">
            <a:avLst/>
          </a:prstGeom>
          <a:solidFill>
            <a:srgbClr val="E8E8E8"/>
          </a:solidFill>
          <a:ln w="12700">
            <a:solidFill>
              <a:srgbClr val="E8E8E8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2377440" y="3145536"/>
            <a:ext cx="2423160" cy="6583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4A4A4A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Routine satisfaction — upsell premium features, maintain service quality.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5166360" y="1261872"/>
            <a:ext cx="3566160" cy="3383280"/>
          </a:xfrm>
          <a:prstGeom prst="rect">
            <a:avLst/>
          </a:prstGeom>
          <a:solidFill>
            <a:srgbClr val="0D0D0D"/>
          </a:solidFill>
          <a:ln w="12700">
            <a:solidFill>
              <a:srgbClr val="0D0D0D"/>
            </a:solidFill>
            <a:prstDash val="solid"/>
          </a:ln>
          <a:effectLst>
            <a:outerShdw blurRad="101600" dist="38100" dir="2700000" algn="bl" rotWithShape="0">
              <a:srgbClr val="000000">
                <a:alpha val="14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5321808" y="1389888"/>
            <a:ext cx="324612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b="1" kern="0" spc="250" dirty="0">
                <a:solidFill>
                  <a:srgbClr val="767676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DEPLOYMENT OPTIONS</a:t>
            </a:r>
            <a:endParaRPr lang="en-US" sz="850" dirty="0"/>
          </a:p>
        </p:txBody>
      </p:sp>
      <p:sp>
        <p:nvSpPr>
          <p:cNvPr id="25" name="Text 23"/>
          <p:cNvSpPr/>
          <p:nvPr/>
        </p:nvSpPr>
        <p:spPr>
          <a:xfrm>
            <a:off x="5321808" y="1792224"/>
            <a:ext cx="22860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767676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▸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5577840" y="1792224"/>
            <a:ext cx="2926080" cy="2377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Flask / FastAPI</a:t>
            </a:r>
            <a:endParaRPr lang="en-US" sz="1050" dirty="0"/>
          </a:p>
        </p:txBody>
      </p:sp>
      <p:sp>
        <p:nvSpPr>
          <p:cNvPr id="27" name="Text 25"/>
          <p:cNvSpPr/>
          <p:nvPr/>
        </p:nvSpPr>
        <p:spPr>
          <a:xfrm>
            <a:off x="5577840" y="2048256"/>
            <a:ext cx="2926080" cy="21945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767676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REST API endpoint accepting customer data</a:t>
            </a:r>
            <a:endParaRPr lang="en-US" sz="950" dirty="0"/>
          </a:p>
        </p:txBody>
      </p:sp>
      <p:sp>
        <p:nvSpPr>
          <p:cNvPr id="28" name="Text 26"/>
          <p:cNvSpPr/>
          <p:nvPr/>
        </p:nvSpPr>
        <p:spPr>
          <a:xfrm>
            <a:off x="5321808" y="2340864"/>
            <a:ext cx="22860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767676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▸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5577840" y="2340864"/>
            <a:ext cx="2926080" cy="2377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Streamlit Dashboard</a:t>
            </a:r>
            <a:endParaRPr lang="en-US" sz="1050" dirty="0"/>
          </a:p>
        </p:txBody>
      </p:sp>
      <p:sp>
        <p:nvSpPr>
          <p:cNvPr id="30" name="Text 28"/>
          <p:cNvSpPr/>
          <p:nvPr/>
        </p:nvSpPr>
        <p:spPr>
          <a:xfrm>
            <a:off x="5577840" y="2596896"/>
            <a:ext cx="2926080" cy="21945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767676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Interactive UI for business analysts</a:t>
            </a:r>
            <a:endParaRPr lang="en-US" sz="950" dirty="0"/>
          </a:p>
        </p:txBody>
      </p:sp>
      <p:sp>
        <p:nvSpPr>
          <p:cNvPr id="31" name="Text 29"/>
          <p:cNvSpPr/>
          <p:nvPr/>
        </p:nvSpPr>
        <p:spPr>
          <a:xfrm>
            <a:off x="5321808" y="2889504"/>
            <a:ext cx="22860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767676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▸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5577840" y="2889504"/>
            <a:ext cx="2926080" cy="2377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CRM Integration</a:t>
            </a:r>
            <a:endParaRPr lang="en-US" sz="1050" dirty="0"/>
          </a:p>
        </p:txBody>
      </p:sp>
      <p:sp>
        <p:nvSpPr>
          <p:cNvPr id="33" name="Text 31"/>
          <p:cNvSpPr/>
          <p:nvPr/>
        </p:nvSpPr>
        <p:spPr>
          <a:xfrm>
            <a:off x="5577840" y="3145536"/>
            <a:ext cx="2926080" cy="21945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767676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Salesforce / HubSpot / Zoho direct alerts</a:t>
            </a:r>
            <a:endParaRPr lang="en-US" sz="950" dirty="0"/>
          </a:p>
        </p:txBody>
      </p:sp>
      <p:sp>
        <p:nvSpPr>
          <p:cNvPr id="34" name="Text 32"/>
          <p:cNvSpPr/>
          <p:nvPr/>
        </p:nvSpPr>
        <p:spPr>
          <a:xfrm>
            <a:off x="5321808" y="3438144"/>
            <a:ext cx="22860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767676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▸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5577840" y="3438144"/>
            <a:ext cx="2926080" cy="2377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Batch Scoring</a:t>
            </a:r>
            <a:endParaRPr lang="en-US" sz="1050" dirty="0"/>
          </a:p>
        </p:txBody>
      </p:sp>
      <p:sp>
        <p:nvSpPr>
          <p:cNvPr id="36" name="Text 34"/>
          <p:cNvSpPr/>
          <p:nvPr/>
        </p:nvSpPr>
        <p:spPr>
          <a:xfrm>
            <a:off x="5577840" y="3694176"/>
            <a:ext cx="2926080" cy="21945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767676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Nightly full-database risk tier refresh</a:t>
            </a:r>
            <a:endParaRPr lang="en-US" sz="950" dirty="0"/>
          </a:p>
        </p:txBody>
      </p:sp>
      <p:sp>
        <p:nvSpPr>
          <p:cNvPr id="37" name="Text 35"/>
          <p:cNvSpPr/>
          <p:nvPr/>
        </p:nvSpPr>
        <p:spPr>
          <a:xfrm>
            <a:off x="5321808" y="3986784"/>
            <a:ext cx="22860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767676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▸</a:t>
            </a:r>
            <a:endParaRPr lang="en-US" sz="1000" dirty="0"/>
          </a:p>
        </p:txBody>
      </p:sp>
      <p:sp>
        <p:nvSpPr>
          <p:cNvPr id="38" name="Text 36"/>
          <p:cNvSpPr/>
          <p:nvPr/>
        </p:nvSpPr>
        <p:spPr>
          <a:xfrm>
            <a:off x="5577840" y="3986784"/>
            <a:ext cx="2926080" cy="2377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Cloud Deployment</a:t>
            </a:r>
            <a:endParaRPr lang="en-US" sz="1050" dirty="0"/>
          </a:p>
        </p:txBody>
      </p:sp>
      <p:sp>
        <p:nvSpPr>
          <p:cNvPr id="39" name="Text 37"/>
          <p:cNvSpPr/>
          <p:nvPr/>
        </p:nvSpPr>
        <p:spPr>
          <a:xfrm>
            <a:off x="5577840" y="4242816"/>
            <a:ext cx="2926080" cy="21945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767676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AWS SageMaker · Google Vertex AI · Azure ML</a:t>
            </a:r>
            <a:endParaRPr lang="en-US" sz="9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0D0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11480" y="4828032"/>
            <a:ext cx="8321040" cy="18288"/>
          </a:xfrm>
          <a:prstGeom prst="rect">
            <a:avLst/>
          </a:prstGeom>
          <a:solidFill>
            <a:srgbClr val="E8E8E8"/>
          </a:solidFill>
          <a:ln w="12700">
            <a:solidFill>
              <a:srgbClr val="E8E8E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4864608"/>
            <a:ext cx="6858000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00" dirty="0">
                <a:solidFill>
                  <a:srgbClr val="767676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Customer Churn Prediction Using Machine Learning  |  AI/ML Project Report  |  2024–2025</a:t>
            </a:r>
            <a:endParaRPr lang="en-US" sz="700" dirty="0"/>
          </a:p>
        </p:txBody>
      </p:sp>
      <p:sp>
        <p:nvSpPr>
          <p:cNvPr id="4" name="Text 2"/>
          <p:cNvSpPr/>
          <p:nvPr/>
        </p:nvSpPr>
        <p:spPr>
          <a:xfrm>
            <a:off x="8321040" y="4864608"/>
            <a:ext cx="411480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00" dirty="0">
                <a:solidFill>
                  <a:srgbClr val="767676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10</a:t>
            </a:r>
            <a:endParaRPr lang="en-US" sz="700" dirty="0"/>
          </a:p>
        </p:txBody>
      </p:sp>
      <p:sp>
        <p:nvSpPr>
          <p:cNvPr id="5" name="Shape 3"/>
          <p:cNvSpPr/>
          <p:nvPr/>
        </p:nvSpPr>
        <p:spPr>
          <a:xfrm>
            <a:off x="0" y="0"/>
            <a:ext cx="4572000" cy="5143500"/>
          </a:xfrm>
          <a:prstGeom prst="rect">
            <a:avLst/>
          </a:prstGeom>
          <a:solidFill>
            <a:srgbClr val="1A1A1A"/>
          </a:solidFill>
          <a:ln w="12700">
            <a:solidFill>
              <a:srgbClr val="1A1A1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65760" y="347472"/>
            <a:ext cx="393192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kern="0" spc="400" dirty="0">
                <a:solidFill>
                  <a:srgbClr val="767676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CONCLUSION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365760" y="685800"/>
            <a:ext cx="3931920" cy="18288"/>
          </a:xfrm>
          <a:prstGeom prst="rect">
            <a:avLst/>
          </a:prstGeom>
          <a:solidFill>
            <a:srgbClr val="4A4A4A"/>
          </a:solidFill>
          <a:ln w="12700">
            <a:solidFill>
              <a:srgbClr val="4A4A4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65760" y="841248"/>
            <a:ext cx="393192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XGBoost: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365760" y="1115568"/>
            <a:ext cx="3931920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767676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100% accuracy &amp; perfect ROC-AUC of 1.0 on test data.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365760" y="1591056"/>
            <a:ext cx="393192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Random Forest: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365760" y="1865376"/>
            <a:ext cx="3931920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767676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99.5% accuracy — strong production alternative.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365760" y="2340864"/>
            <a:ext cx="393192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Top Churn Drivers: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365760" y="2615184"/>
            <a:ext cx="3931920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767676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Contract Type, Tenure, Monthly Charges, Support Calls.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365760" y="3090672"/>
            <a:ext cx="393192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Engineered Features: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365760" y="3364992"/>
            <a:ext cx="3931920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767676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ChargesPerMonth &amp; SupportCallRate added significant signal.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365760" y="3840480"/>
            <a:ext cx="393192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Risk Tiers: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365760" y="4114800"/>
            <a:ext cx="3931920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767676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Low / Medium / High framework enables immediate business action.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4846320" y="347472"/>
            <a:ext cx="393192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kern="0" spc="400" dirty="0">
                <a:solidFill>
                  <a:srgbClr val="767676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FUTURE SCOPE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4846320" y="685800"/>
            <a:ext cx="3931920" cy="18288"/>
          </a:xfrm>
          <a:prstGeom prst="rect">
            <a:avLst/>
          </a:prstGeom>
          <a:solidFill>
            <a:srgbClr val="4A4A4A"/>
          </a:solidFill>
          <a:ln w="12700">
            <a:solidFill>
              <a:srgbClr val="4A4A4A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846320" y="841248"/>
            <a:ext cx="27432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4A4A4A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→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5166360" y="841248"/>
            <a:ext cx="361188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F5F5F5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Real-time streaming pipeline — Apache Kafka / AWS Kinesis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4846320" y="1499616"/>
            <a:ext cx="27432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4A4A4A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→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5166360" y="1499616"/>
            <a:ext cx="361188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F5F5F5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CRM integration — Salesforce, HubSpot, Microsoft Dynamics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4846320" y="2157984"/>
            <a:ext cx="27432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4A4A4A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→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5166360" y="2157984"/>
            <a:ext cx="361188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F5F5F5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Retention recommendation engine — personalised interventions</a:t>
            </a:r>
            <a:endParaRPr lang="en-US" sz="1050" dirty="0"/>
          </a:p>
        </p:txBody>
      </p:sp>
      <p:sp>
        <p:nvSpPr>
          <p:cNvPr id="26" name="Text 24"/>
          <p:cNvSpPr/>
          <p:nvPr/>
        </p:nvSpPr>
        <p:spPr>
          <a:xfrm>
            <a:off x="4846320" y="2816352"/>
            <a:ext cx="27432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4A4A4A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→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5166360" y="2816352"/>
            <a:ext cx="361188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F5F5F5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Deep Learning — LSTM / TabNet for richer behavioural signals</a:t>
            </a:r>
            <a:endParaRPr lang="en-US" sz="1050" dirty="0"/>
          </a:p>
        </p:txBody>
      </p:sp>
      <p:sp>
        <p:nvSpPr>
          <p:cNvPr id="28" name="Text 26"/>
          <p:cNvSpPr/>
          <p:nvPr/>
        </p:nvSpPr>
        <p:spPr>
          <a:xfrm>
            <a:off x="4846320" y="3474720"/>
            <a:ext cx="27432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4A4A4A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→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5166360" y="3474720"/>
            <a:ext cx="361188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F5F5F5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SHAP explainability — per-customer churn reason codes</a:t>
            </a:r>
            <a:endParaRPr lang="en-US" sz="1050" dirty="0"/>
          </a:p>
        </p:txBody>
      </p:sp>
      <p:sp>
        <p:nvSpPr>
          <p:cNvPr id="30" name="Text 28"/>
          <p:cNvSpPr/>
          <p:nvPr/>
        </p:nvSpPr>
        <p:spPr>
          <a:xfrm>
            <a:off x="4846320" y="4133088"/>
            <a:ext cx="27432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4A4A4A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→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5166360" y="4133088"/>
            <a:ext cx="361188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F5F5F5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A/B testing — quantify business impact of ML-driven campaigns</a:t>
            </a:r>
            <a:endParaRPr lang="en-US" sz="1050" dirty="0"/>
          </a:p>
        </p:txBody>
      </p:sp>
      <p:sp>
        <p:nvSpPr>
          <p:cNvPr id="32" name="Shape 30"/>
          <p:cNvSpPr/>
          <p:nvPr/>
        </p:nvSpPr>
        <p:spPr>
          <a:xfrm>
            <a:off x="411480" y="4663440"/>
            <a:ext cx="8321040" cy="18288"/>
          </a:xfrm>
          <a:prstGeom prst="rect">
            <a:avLst/>
          </a:prstGeom>
          <a:solidFill>
            <a:srgbClr val="4A4A4A"/>
          </a:solidFill>
          <a:ln w="12700">
            <a:solidFill>
              <a:srgbClr val="4A4A4A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11480" y="4736592"/>
            <a:ext cx="832104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8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5278</Words>
  <Application>WPS Presentation</Application>
  <PresentationFormat>On-screen Show (16:9)</PresentationFormat>
  <Paragraphs>464</Paragraphs>
  <Slides>10</Slides>
  <Notes>10</Notes>
  <HiddenSlides>0</HiddenSlides>
  <MMClips>0</MMClips>
  <ScaleCrop>false</ScaleCrop>
  <HeadingPairs>
    <vt:vector size="6" baseType="variant">
      <vt:variant>
        <vt:lpstr>已用的字体</vt:lpstr>
      </vt:variant>
      <vt:variant>
        <vt:i4>9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10</vt:i4>
      </vt:variant>
    </vt:vector>
  </HeadingPairs>
  <TitlesOfParts>
    <vt:vector size="20" baseType="lpstr">
      <vt:lpstr>Arial</vt:lpstr>
      <vt:lpstr>SimSun</vt:lpstr>
      <vt:lpstr>Wingdings</vt:lpstr>
      <vt:lpstr>Arial</vt:lpstr>
      <vt:lpstr>Arial</vt:lpstr>
      <vt:lpstr>Arial</vt:lpstr>
      <vt:lpstr>Calibri</vt:lpstr>
      <vt:lpstr>Microsoft YaHei</vt:lpstr>
      <vt:lpstr>Arial Unicode MS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PptxGenJS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Customer Churn Prediction Using Machine Learning</dc:title>
  <dc:creator>PptxGenJS</dc:creator>
  <dc:subject>PptxGenJS Presentation</dc:subject>
  <cp:lastModifiedBy>RIDDHI</cp:lastModifiedBy>
  <cp:revision>2</cp:revision>
  <dcterms:created xsi:type="dcterms:W3CDTF">2026-06-29T03:15:00Z</dcterms:created>
  <dcterms:modified xsi:type="dcterms:W3CDTF">2026-06-29T03:26:21Z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1033-12.1.0.25242</vt:lpwstr>
  </property>
  <property fmtid="{D5CDD505-2E9C-101B-9397-08002B2CF9AE}" pid="3" name="ICV">
    <vt:lpwstr>125020DE71A64CC6806947167D6E1035_12</vt:lpwstr>
  </property>
</Properties>
</file>